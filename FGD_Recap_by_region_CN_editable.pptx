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6862BF-A038-0B32-FC66-BF1FD630B9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6BE00A5-9DFF-1819-DF1D-23D52988E5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31DE803-B5D8-2A07-E4E6-E8EEC1889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5549FB-2D0B-4A0B-349A-CBA34B401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CF32C41-6748-843F-A07F-36AE042FF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4549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BF24DB-7C26-6A5C-E1DA-8176FE15D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94BF92-2946-DE07-E77E-026F22872D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9DAF9CC-BE2B-FF34-6258-DFD85BF23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D119E2-8860-D4FE-8A26-AFE8ED34A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227831-371C-8FEF-C0E0-BD120FC0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8897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242FCD-5B71-F4BB-EF6A-3BCF7F06A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C75FA9A-B669-5AFA-90B4-AC21D350D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F89F2C-883A-33C5-8B1B-575C8A5D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C21D06D-DAF3-25A4-D20D-53FB55563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DCFF6B-FCDB-D396-7FB3-2881F3B56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84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F7BDD6-B95A-4AB8-E46A-FC21D3E09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270711-BE89-3FB8-88E7-D6C32DBFE9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3AE8184-98D6-048B-24DC-8CB8AD9B8F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5C7DCDE-D033-E670-27B3-E2CA622B5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F2F7A25-4558-2E34-0E29-0580805A7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E45A9C-24A2-B673-ADDD-75CB0560E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5448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DB2C1-F7FF-7009-98BC-E2C584264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7ECE7D2-4E4E-1390-1650-618DD8F397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64F01B5-86D6-E047-3521-C4C5677696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D29DA3C-AC0F-2674-4C94-A754F3442F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F3C1BA0-2527-2526-B806-508E684365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AC799DD-6A78-4C2E-FBB4-E793EE3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6270B54-EA9D-C98D-52B1-C47C5EACD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0CD3DC2-ACDA-06E0-5519-9195E1A0C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0468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F8BDC2-102A-429D-99DB-75D9DBD72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6F001B7-C938-024F-761D-66DFE773E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FDB5ABA-8614-6CE9-FD4F-85C907E77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E72DA89-3549-82BA-BFC0-0FF7CE11F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252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CD4C817-7D67-CC5F-3E80-75E175936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96B748-B49F-7AAA-537A-B4F7EAAE1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61EECF-EC62-8F4F-51E4-CD8FE292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039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21DB45-CA82-AF12-1062-66F7A3CE8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413BFC-68C5-4869-D33E-B942656AAB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3C7622-4404-8DAE-50C1-9D60BC864C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9F3BF5-65C1-89A1-4814-82F8D935A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423D3B7-9E8E-447A-CE47-3CCA7C6E8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7D8A92-CE2A-8530-748D-40338EC75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2393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EE0B95-7280-A38C-27C2-F8488D6F4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1034793-0005-A75F-643F-93F52F5A00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408987-03FF-D34C-5884-683B01F1ED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9A3E3F0-FCD7-A7F5-25B1-78879664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A04AAF5-743F-5FFC-C71B-F04A4887E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8DC1B5D-B2F5-0F3E-CC1D-872D42B99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2392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343A6F-7E49-2510-594C-8CC442479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D68B36-9120-285E-B256-638B0DEA3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125BF3-99B3-9A03-6066-4E4B9FF43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34CFB3A-D86B-11C7-F2D8-DAD13A373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6350355-6D4D-562E-44E2-599D37D57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1138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BC7AA62-E57D-BFE2-70AA-0D912FA4F7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B325737-F1DA-F658-0F63-3836B08F5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7FAF26-F31F-7224-0991-3A66BD6B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A21DAE-30AD-9672-4CC2-D9176E8E0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7947B3-65F3-2577-2271-9C9D97C4B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215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EA7FB97-DBA7-47AE-74F0-0CD67F402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0A11D5-967A-67FB-3D9B-58B03A2A58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626E36-0078-E58C-5F15-9E0BE1C2C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AFEA55-AB1C-455C-9F29-5DC64375238B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F19C27-6409-4A3D-997B-5F3F586201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991D1E-77D4-4FF8-D919-FA9D027977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70EAD0-80BA-46EF-86E6-8E916EAD3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5204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73205F-CEB3-B65B-FC83-9D4D2B9DEB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6ADCB3-DBE4-D852-2032-797DFE6F77C8}"/>
              </a:ext>
            </a:extLst>
          </p:cNvPr>
          <p:cNvSpPr txBox="1"/>
          <p:nvPr/>
        </p:nvSpPr>
        <p:spPr>
          <a:xfrm>
            <a:off x="571500" y="482600"/>
            <a:ext cx="4826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3100" b="1" dirty="0">
                <a:solidFill>
                  <a:srgbClr val="F8F6E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全区</a:t>
            </a:r>
            <a:r>
              <a:rPr lang="en-US" altLang="zh-CN" sz="3100" b="1" dirty="0">
                <a:solidFill>
                  <a:srgbClr val="F8F6E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FGD </a:t>
            </a:r>
            <a:r>
              <a:rPr lang="zh-CN" altLang="en-US" sz="3100" b="1" dirty="0">
                <a:solidFill>
                  <a:srgbClr val="F8F6E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现场回顾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655FAC9-AD88-6913-6D40-2BF5F6C2CEAE}"/>
              </a:ext>
            </a:extLst>
          </p:cNvPr>
          <p:cNvSpPr/>
          <p:nvPr/>
        </p:nvSpPr>
        <p:spPr>
          <a:xfrm>
            <a:off x="5486400" y="254000"/>
            <a:ext cx="6286500" cy="977900"/>
          </a:xfrm>
          <a:prstGeom prst="roundRect">
            <a:avLst>
              <a:gd name="adj" fmla="val 14000"/>
            </a:avLst>
          </a:prstGeom>
          <a:solidFill>
            <a:srgbClr val="101820"/>
          </a:solidFill>
          <a:ln w="12700">
            <a:solidFill>
              <a:srgbClr val="2F3B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818A28A-6086-F47E-A89E-7033B89338E4}"/>
              </a:ext>
            </a:extLst>
          </p:cNvPr>
          <p:cNvSpPr/>
          <p:nvPr/>
        </p:nvSpPr>
        <p:spPr>
          <a:xfrm>
            <a:off x="5715000" y="457200"/>
            <a:ext cx="88900" cy="88900"/>
          </a:xfrm>
          <a:prstGeom prst="ellipse">
            <a:avLst/>
          </a:prstGeom>
          <a:solidFill>
            <a:srgbClr val="38D5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788FC1AE-4154-A6BB-9015-BA26321C6B0C}"/>
              </a:ext>
            </a:extLst>
          </p:cNvPr>
          <p:cNvSpPr/>
          <p:nvPr/>
        </p:nvSpPr>
        <p:spPr>
          <a:xfrm>
            <a:off x="5715000" y="723900"/>
            <a:ext cx="88900" cy="88900"/>
          </a:xfrm>
          <a:prstGeom prst="ellipse">
            <a:avLst/>
          </a:prstGeom>
          <a:solidFill>
            <a:srgbClr val="FFBE5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A56E4CE8-0492-B7A6-D50E-433762F45E8C}"/>
              </a:ext>
            </a:extLst>
          </p:cNvPr>
          <p:cNvSpPr/>
          <p:nvPr/>
        </p:nvSpPr>
        <p:spPr>
          <a:xfrm>
            <a:off x="5715000" y="990600"/>
            <a:ext cx="88900" cy="88900"/>
          </a:xfrm>
          <a:prstGeom prst="ellipse">
            <a:avLst/>
          </a:prstGeom>
          <a:solidFill>
            <a:srgbClr val="FF68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D335624-BD68-A577-6921-7F343F0653FE}"/>
              </a:ext>
            </a:extLst>
          </p:cNvPr>
          <p:cNvSpPr txBox="1"/>
          <p:nvPr/>
        </p:nvSpPr>
        <p:spPr>
          <a:xfrm>
            <a:off x="5918200" y="431800"/>
            <a:ext cx="914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F5F4E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调研地区：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85CBE18-46B7-A71A-9F37-46335BAC7C91}"/>
              </a:ext>
            </a:extLst>
          </p:cNvPr>
          <p:cNvSpPr txBox="1"/>
          <p:nvPr/>
        </p:nvSpPr>
        <p:spPr>
          <a:xfrm>
            <a:off x="6858000" y="431800"/>
            <a:ext cx="4318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>
                <a:solidFill>
                  <a:srgbClr val="D7DEE5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越南，印尼，墨西哥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676512-2658-B703-2BA3-D65D7CF1860C}"/>
              </a:ext>
            </a:extLst>
          </p:cNvPr>
          <p:cNvSpPr txBox="1"/>
          <p:nvPr/>
        </p:nvSpPr>
        <p:spPr>
          <a:xfrm>
            <a:off x="5918200" y="698500"/>
            <a:ext cx="914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F5F4E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玩家类型：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93F7BFF-2F99-9817-01B2-E011595C1A15}"/>
              </a:ext>
            </a:extLst>
          </p:cNvPr>
          <p:cNvSpPr txBox="1"/>
          <p:nvPr/>
        </p:nvSpPr>
        <p:spPr>
          <a:xfrm>
            <a:off x="6858000" y="698500"/>
            <a:ext cx="4318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>
                <a:solidFill>
                  <a:srgbClr val="D7DEE5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新玩家，硬核老玩家，流失老玩家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C8934B1-40D4-C917-D1EF-1220EAE49B56}"/>
              </a:ext>
            </a:extLst>
          </p:cNvPr>
          <p:cNvSpPr txBox="1"/>
          <p:nvPr/>
        </p:nvSpPr>
        <p:spPr>
          <a:xfrm>
            <a:off x="5918200" y="965200"/>
            <a:ext cx="9144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F5F4E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调研目的：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DDEA75-18E9-DE6D-6755-4A83758B4260}"/>
              </a:ext>
            </a:extLst>
          </p:cNvPr>
          <p:cNvSpPr txBox="1"/>
          <p:nvPr/>
        </p:nvSpPr>
        <p:spPr>
          <a:xfrm>
            <a:off x="6858000" y="965200"/>
            <a:ext cx="4572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>
                <a:solidFill>
                  <a:srgbClr val="D7DEE5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重点验证新版本 </a:t>
            </a:r>
            <a:r>
              <a:rPr lang="en-US" altLang="zh-CN" sz="1250">
                <a:solidFill>
                  <a:srgbClr val="D7DEE5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3C </a:t>
            </a:r>
            <a:r>
              <a:rPr lang="zh-CN" altLang="en-US" sz="1250">
                <a:solidFill>
                  <a:srgbClr val="D7DEE5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战斗体验，其次验证 </a:t>
            </a:r>
            <a:r>
              <a:rPr lang="en-US" altLang="zh-CN" sz="1250">
                <a:solidFill>
                  <a:srgbClr val="D7DEE5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PVE </a:t>
            </a:r>
            <a:r>
              <a:rPr lang="zh-CN" altLang="en-US" sz="1250">
                <a:solidFill>
                  <a:srgbClr val="D7DEE5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新模式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23F4182-B21E-C6E9-4DB0-0620343F5259}"/>
              </a:ext>
            </a:extLst>
          </p:cNvPr>
          <p:cNvSpPr/>
          <p:nvPr/>
        </p:nvSpPr>
        <p:spPr>
          <a:xfrm>
            <a:off x="444500" y="1473200"/>
            <a:ext cx="3524250" cy="4953000"/>
          </a:xfrm>
          <a:prstGeom prst="roundRect">
            <a:avLst>
              <a:gd name="adj" fmla="val 12000"/>
            </a:avLst>
          </a:prstGeom>
          <a:solidFill>
            <a:srgbClr val="101820"/>
          </a:solidFill>
          <a:ln w="12700">
            <a:solidFill>
              <a:srgbClr val="33414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662DB3E8-66A0-812B-64CE-1218E3AC2FCF}"/>
              </a:ext>
            </a:extLst>
          </p:cNvPr>
          <p:cNvSpPr/>
          <p:nvPr/>
        </p:nvSpPr>
        <p:spPr>
          <a:xfrm>
            <a:off x="647700" y="1701800"/>
            <a:ext cx="127000" cy="127000"/>
          </a:xfrm>
          <a:prstGeom prst="ellipse">
            <a:avLst/>
          </a:prstGeom>
          <a:solidFill>
            <a:srgbClr val="38D5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8257531-1DEA-A19F-F658-080936ED541C}"/>
              </a:ext>
            </a:extLst>
          </p:cNvPr>
          <p:cNvSpPr txBox="1"/>
          <p:nvPr/>
        </p:nvSpPr>
        <p:spPr>
          <a:xfrm>
            <a:off x="901700" y="1651000"/>
            <a:ext cx="1905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 b="1">
                <a:solidFill>
                  <a:srgbClr val="F5F4E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印尼 </a:t>
            </a:r>
            <a:r>
              <a:rPr lang="en-US" altLang="zh-CN" sz="2000" b="1">
                <a:solidFill>
                  <a:srgbClr val="F5F4E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FGD</a:t>
            </a:r>
            <a:endParaRPr lang="zh-CN" altLang="en-US" sz="2000" b="1">
              <a:solidFill>
                <a:srgbClr val="F5F4EE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17BA681-D2CE-A978-D37E-A4845EF02B69}"/>
              </a:ext>
            </a:extLst>
          </p:cNvPr>
          <p:cNvSpPr txBox="1"/>
          <p:nvPr/>
        </p:nvSpPr>
        <p:spPr>
          <a:xfrm>
            <a:off x="2889250" y="1676400"/>
            <a:ext cx="889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sz="1200">
                <a:solidFill>
                  <a:srgbClr val="C9D3D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C9D3D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张照片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31511BB2-2DB5-4815-25D2-6BCE1E5BF65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0" y="2057400"/>
            <a:ext cx="3219450" cy="1905000"/>
          </a:xfrm>
          <a:prstGeom prst="rect">
            <a:avLst/>
          </a:prstGeom>
          <a:ln w="9525">
            <a:solidFill>
              <a:srgbClr val="6E7781"/>
            </a:solidFill>
          </a:ln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D55039A2-F7DB-EA42-DE01-E4C1A2ED2B4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0" y="4076700"/>
            <a:ext cx="1565275" cy="1993900"/>
          </a:xfrm>
          <a:prstGeom prst="rect">
            <a:avLst/>
          </a:prstGeom>
          <a:ln w="9525">
            <a:solidFill>
              <a:srgbClr val="6E7781"/>
            </a:solidFill>
          </a:ln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050D0128-EDC2-3644-14B0-737EEB2C664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075" y="4076700"/>
            <a:ext cx="1565275" cy="1993900"/>
          </a:xfrm>
          <a:prstGeom prst="rect">
            <a:avLst/>
          </a:prstGeom>
          <a:ln w="9525">
            <a:solidFill>
              <a:srgbClr val="6E7781"/>
            </a:solidFill>
          </a:ln>
        </p:spPr>
      </p:pic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324B96C-A518-6F2A-B311-04FF99F33A6A}"/>
              </a:ext>
            </a:extLst>
          </p:cNvPr>
          <p:cNvSpPr/>
          <p:nvPr/>
        </p:nvSpPr>
        <p:spPr>
          <a:xfrm>
            <a:off x="4349750" y="1473200"/>
            <a:ext cx="3524250" cy="4953000"/>
          </a:xfrm>
          <a:prstGeom prst="roundRect">
            <a:avLst>
              <a:gd name="adj" fmla="val 12000"/>
            </a:avLst>
          </a:prstGeom>
          <a:solidFill>
            <a:srgbClr val="101820"/>
          </a:solidFill>
          <a:ln w="12700">
            <a:solidFill>
              <a:srgbClr val="33414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AC56CD50-494D-B468-0A0A-A2DECC99CBA2}"/>
              </a:ext>
            </a:extLst>
          </p:cNvPr>
          <p:cNvSpPr/>
          <p:nvPr/>
        </p:nvSpPr>
        <p:spPr>
          <a:xfrm>
            <a:off x="4552950" y="1701800"/>
            <a:ext cx="127000" cy="127000"/>
          </a:xfrm>
          <a:prstGeom prst="ellipse">
            <a:avLst/>
          </a:prstGeom>
          <a:solidFill>
            <a:srgbClr val="FFBE5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3A6AD16-3AAB-3045-5CD5-FD863BE37A6D}"/>
              </a:ext>
            </a:extLst>
          </p:cNvPr>
          <p:cNvSpPr txBox="1"/>
          <p:nvPr/>
        </p:nvSpPr>
        <p:spPr>
          <a:xfrm>
            <a:off x="4806950" y="1651000"/>
            <a:ext cx="1905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 b="1">
                <a:solidFill>
                  <a:srgbClr val="F5F4E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越南 </a:t>
            </a:r>
            <a:r>
              <a:rPr lang="en-US" altLang="zh-CN" sz="2000" b="1">
                <a:solidFill>
                  <a:srgbClr val="F5F4E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FGD</a:t>
            </a:r>
            <a:endParaRPr lang="zh-CN" altLang="en-US" sz="2000" b="1">
              <a:solidFill>
                <a:srgbClr val="F5F4EE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ED07A74-DF9B-5982-2CF9-A392537B1264}"/>
              </a:ext>
            </a:extLst>
          </p:cNvPr>
          <p:cNvSpPr txBox="1"/>
          <p:nvPr/>
        </p:nvSpPr>
        <p:spPr>
          <a:xfrm>
            <a:off x="6794500" y="1676400"/>
            <a:ext cx="889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sz="1200">
                <a:solidFill>
                  <a:srgbClr val="C9D3D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C9D3D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张照片</a:t>
            </a: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8827C497-DA73-4EEB-F0C6-1B3CA7F6D3B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150" y="2057400"/>
            <a:ext cx="3219450" cy="1905000"/>
          </a:xfrm>
          <a:prstGeom prst="rect">
            <a:avLst/>
          </a:prstGeom>
          <a:ln w="9525">
            <a:solidFill>
              <a:srgbClr val="6E7781"/>
            </a:solidFill>
          </a:ln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CFA6351C-969F-CE29-F471-FA092B916D3B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150" y="4076700"/>
            <a:ext cx="1565275" cy="1993900"/>
          </a:xfrm>
          <a:prstGeom prst="rect">
            <a:avLst/>
          </a:prstGeom>
          <a:ln w="9525">
            <a:solidFill>
              <a:srgbClr val="6E7781"/>
            </a:solidFill>
          </a:ln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A8B51832-F67D-B6E1-F166-9C2293454DC8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325" y="4076700"/>
            <a:ext cx="1565275" cy="1993900"/>
          </a:xfrm>
          <a:prstGeom prst="rect">
            <a:avLst/>
          </a:prstGeom>
          <a:ln w="9525">
            <a:solidFill>
              <a:srgbClr val="6E7781"/>
            </a:solidFill>
          </a:ln>
        </p:spPr>
      </p:pic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33BD9229-8326-3542-4FD5-E034C33C1EF1}"/>
              </a:ext>
            </a:extLst>
          </p:cNvPr>
          <p:cNvSpPr/>
          <p:nvPr/>
        </p:nvSpPr>
        <p:spPr>
          <a:xfrm>
            <a:off x="8255000" y="1473200"/>
            <a:ext cx="3524250" cy="4953000"/>
          </a:xfrm>
          <a:prstGeom prst="roundRect">
            <a:avLst>
              <a:gd name="adj" fmla="val 12000"/>
            </a:avLst>
          </a:prstGeom>
          <a:solidFill>
            <a:srgbClr val="101820"/>
          </a:solidFill>
          <a:ln w="12700">
            <a:solidFill>
              <a:srgbClr val="33414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15E11CE-8092-5E52-AEC8-AC3F6F46E262}"/>
              </a:ext>
            </a:extLst>
          </p:cNvPr>
          <p:cNvSpPr/>
          <p:nvPr/>
        </p:nvSpPr>
        <p:spPr>
          <a:xfrm>
            <a:off x="8458200" y="1701800"/>
            <a:ext cx="127000" cy="127000"/>
          </a:xfrm>
          <a:prstGeom prst="ellipse">
            <a:avLst/>
          </a:prstGeom>
          <a:solidFill>
            <a:srgbClr val="FF68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B50C59A-BAE0-E659-6B29-63D5B41B405C}"/>
              </a:ext>
            </a:extLst>
          </p:cNvPr>
          <p:cNvSpPr txBox="1"/>
          <p:nvPr/>
        </p:nvSpPr>
        <p:spPr>
          <a:xfrm>
            <a:off x="8712200" y="1651000"/>
            <a:ext cx="1905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 b="1">
                <a:solidFill>
                  <a:srgbClr val="F5F4E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墨西哥 </a:t>
            </a:r>
            <a:r>
              <a:rPr lang="en-US" altLang="zh-CN" sz="2000" b="1">
                <a:solidFill>
                  <a:srgbClr val="F5F4E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FGD</a:t>
            </a:r>
            <a:endParaRPr lang="zh-CN" altLang="en-US" sz="2000" b="1">
              <a:solidFill>
                <a:srgbClr val="F5F4EE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558963D-418D-4298-2E76-D0110D029436}"/>
              </a:ext>
            </a:extLst>
          </p:cNvPr>
          <p:cNvSpPr txBox="1"/>
          <p:nvPr/>
        </p:nvSpPr>
        <p:spPr>
          <a:xfrm>
            <a:off x="10699750" y="1676400"/>
            <a:ext cx="889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sz="1200">
                <a:solidFill>
                  <a:srgbClr val="C9D3D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 </a:t>
            </a:r>
            <a:r>
              <a:rPr lang="zh-CN" altLang="en-US" sz="1200">
                <a:solidFill>
                  <a:srgbClr val="C9D3D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张照片</a:t>
            </a:r>
          </a:p>
        </p:txBody>
      </p:sp>
      <p:pic>
        <p:nvPicPr>
          <p:cNvPr id="41" name="图片 40">
            <a:extLst>
              <a:ext uri="{FF2B5EF4-FFF2-40B4-BE49-F238E27FC236}">
                <a16:creationId xmlns:a16="http://schemas.microsoft.com/office/drawing/2014/main" id="{CF6ADE88-458F-C9B4-9B86-9BC07029CC70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2057400"/>
            <a:ext cx="3219450" cy="1930400"/>
          </a:xfrm>
          <a:prstGeom prst="rect">
            <a:avLst/>
          </a:prstGeom>
          <a:ln w="9525">
            <a:solidFill>
              <a:srgbClr val="6E7781"/>
            </a:solidFill>
          </a:ln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D51900E8-EFA5-048D-49D7-7E742D120356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114800"/>
            <a:ext cx="3219450" cy="1968500"/>
          </a:xfrm>
          <a:prstGeom prst="rect">
            <a:avLst/>
          </a:prstGeom>
          <a:ln w="9525">
            <a:solidFill>
              <a:srgbClr val="6E7781"/>
            </a:solidFill>
          </a:ln>
        </p:spPr>
      </p:pic>
      <p:sp>
        <p:nvSpPr>
          <p:cNvPr id="44" name="文本框 43">
            <a:extLst>
              <a:ext uri="{FF2B5EF4-FFF2-40B4-BE49-F238E27FC236}">
                <a16:creationId xmlns:a16="http://schemas.microsoft.com/office/drawing/2014/main" id="{C4A96204-A107-8D03-1A5F-960AB8B8E8A1}"/>
              </a:ext>
            </a:extLst>
          </p:cNvPr>
          <p:cNvSpPr txBox="1"/>
          <p:nvPr/>
        </p:nvSpPr>
        <p:spPr>
          <a:xfrm>
            <a:off x="469900" y="6565900"/>
            <a:ext cx="584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100">
                <a:solidFill>
                  <a:srgbClr val="B8C0C8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已移除标注 </a:t>
            </a:r>
            <a:r>
              <a:rPr lang="en-US" altLang="zh-CN" sz="1100">
                <a:solidFill>
                  <a:srgbClr val="B8C0C8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× </a:t>
            </a:r>
            <a:r>
              <a:rPr lang="zh-CN" altLang="en-US" sz="1100">
                <a:solidFill>
                  <a:srgbClr val="B8C0C8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的无效照片；保留现场试玩、观察、记录场景。</a:t>
            </a:r>
          </a:p>
        </p:txBody>
      </p:sp>
    </p:spTree>
    <p:extLst>
      <p:ext uri="{BB962C8B-B14F-4D97-AF65-F5344CB8AC3E}">
        <p14:creationId xmlns:p14="http://schemas.microsoft.com/office/powerpoint/2010/main" val="920379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805BF741-53E8-8B78-3E03-D239634C5D5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402A278-E170-1811-1E05-C523E8AD66D9}"/>
              </a:ext>
            </a:extLst>
          </p:cNvPr>
          <p:cNvSpPr txBox="1"/>
          <p:nvPr/>
        </p:nvSpPr>
        <p:spPr>
          <a:xfrm>
            <a:off x="571500" y="609600"/>
            <a:ext cx="9652000" cy="5078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3300" b="1">
                <a:solidFill>
                  <a:srgbClr val="F8F6E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操控得到全面积极反馈！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D4985004-F81A-185D-E038-DA60BC22F14C}"/>
              </a:ext>
            </a:extLst>
          </p:cNvPr>
          <p:cNvSpPr txBox="1"/>
          <p:nvPr/>
        </p:nvSpPr>
        <p:spPr>
          <a:xfrm>
            <a:off x="596900" y="1333500"/>
            <a:ext cx="10541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 dirty="0">
                <a:solidFill>
                  <a:srgbClr val="B9C3C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新 </a:t>
            </a:r>
            <a:r>
              <a:rPr lang="en-US" altLang="zh-CN" sz="2000" dirty="0">
                <a:solidFill>
                  <a:srgbClr val="B9C3C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3C </a:t>
            </a:r>
            <a:r>
              <a:rPr lang="zh-CN" altLang="en-US" sz="2000" dirty="0">
                <a:solidFill>
                  <a:srgbClr val="B9C3C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的战斗体验在新玩家侧得到认可，但多数老玩家担心战斗策略由于镜头改变而变浅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0359324-62BA-9AF6-60AE-7E7D77253663}"/>
              </a:ext>
            </a:extLst>
          </p:cNvPr>
          <p:cNvSpPr/>
          <p:nvPr/>
        </p:nvSpPr>
        <p:spPr>
          <a:xfrm>
            <a:off x="609600" y="2108200"/>
            <a:ext cx="5181600" cy="3886200"/>
          </a:xfrm>
          <a:prstGeom prst="roundRect">
            <a:avLst>
              <a:gd name="adj" fmla="val 10000"/>
            </a:avLst>
          </a:prstGeom>
          <a:solidFill>
            <a:srgbClr val="101820"/>
          </a:solidFill>
          <a:ln w="12700">
            <a:solidFill>
              <a:srgbClr val="33414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A40635D-86DE-B578-2C6E-CD2F30F98A24}"/>
              </a:ext>
            </a:extLst>
          </p:cNvPr>
          <p:cNvSpPr/>
          <p:nvPr/>
        </p:nvSpPr>
        <p:spPr>
          <a:xfrm>
            <a:off x="609600" y="2108200"/>
            <a:ext cx="88900" cy="3886200"/>
          </a:xfrm>
          <a:prstGeom prst="rect">
            <a:avLst/>
          </a:prstGeom>
          <a:solidFill>
            <a:srgbClr val="1DAE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D9301102-0F9D-B5A3-B897-C41492351153}"/>
              </a:ext>
            </a:extLst>
          </p:cNvPr>
          <p:cNvSpPr/>
          <p:nvPr/>
        </p:nvSpPr>
        <p:spPr>
          <a:xfrm>
            <a:off x="863600" y="2438400"/>
            <a:ext cx="127000" cy="127000"/>
          </a:xfrm>
          <a:prstGeom prst="ellipse">
            <a:avLst/>
          </a:prstGeom>
          <a:solidFill>
            <a:srgbClr val="1DAE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DDA9EA62-5A4B-87AF-3DC0-AF953A97DFA3}"/>
              </a:ext>
            </a:extLst>
          </p:cNvPr>
          <p:cNvSpPr/>
          <p:nvPr/>
        </p:nvSpPr>
        <p:spPr>
          <a:xfrm>
            <a:off x="1143000" y="2362200"/>
            <a:ext cx="1092200" cy="279400"/>
          </a:xfrm>
          <a:prstGeom prst="roundRect">
            <a:avLst>
              <a:gd name="adj" fmla="val 50000"/>
            </a:avLst>
          </a:prstGeom>
          <a:solidFill>
            <a:srgbClr val="1DAE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ACCCBC5-DA93-4969-80AD-DE0454D8707F}"/>
              </a:ext>
            </a:extLst>
          </p:cNvPr>
          <p:cNvSpPr txBox="1"/>
          <p:nvPr/>
        </p:nvSpPr>
        <p:spPr>
          <a:xfrm>
            <a:off x="1244600" y="2385292"/>
            <a:ext cx="889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F8F6E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新玩家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06E43C50-30CD-1DBF-8632-ED7CBF3492C6}"/>
              </a:ext>
            </a:extLst>
          </p:cNvPr>
          <p:cNvSpPr txBox="1"/>
          <p:nvPr/>
        </p:nvSpPr>
        <p:spPr>
          <a:xfrm>
            <a:off x="965200" y="2895600"/>
            <a:ext cx="447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900" b="1" dirty="0">
                <a:solidFill>
                  <a:srgbClr val="F8F6E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愿意尝试，进入门槛主要来自信息理解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6BA477CF-D23E-115D-C4E3-67DFD9B51525}"/>
              </a:ext>
            </a:extLst>
          </p:cNvPr>
          <p:cNvSpPr/>
          <p:nvPr/>
        </p:nvSpPr>
        <p:spPr>
          <a:xfrm>
            <a:off x="955964" y="3417451"/>
            <a:ext cx="4470400" cy="812800"/>
          </a:xfrm>
          <a:prstGeom prst="roundRect">
            <a:avLst>
              <a:gd name="adj" fmla="val 10000"/>
            </a:avLst>
          </a:prstGeom>
          <a:solidFill>
            <a:srgbClr val="162A2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0493D3AF-653A-2BB6-9953-BB10B4AC0E5F}"/>
              </a:ext>
            </a:extLst>
          </p:cNvPr>
          <p:cNvSpPr txBox="1"/>
          <p:nvPr/>
        </p:nvSpPr>
        <p:spPr>
          <a:xfrm>
            <a:off x="1133764" y="3452091"/>
            <a:ext cx="12065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 b="1" dirty="0">
                <a:solidFill>
                  <a:srgbClr val="1DAE9C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喜欢</a:t>
            </a: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BAC7B936-F111-276C-B15C-208D51A7B013}"/>
              </a:ext>
            </a:extLst>
          </p:cNvPr>
          <p:cNvSpPr/>
          <p:nvPr/>
        </p:nvSpPr>
        <p:spPr>
          <a:xfrm>
            <a:off x="1133764" y="3769591"/>
            <a:ext cx="139700" cy="139700"/>
          </a:xfrm>
          <a:prstGeom prst="ellipse">
            <a:avLst/>
          </a:prstGeom>
          <a:solidFill>
            <a:srgbClr val="1DAE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rgbClr val="FFFF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  <a:endParaRPr lang="zh-CN" altLang="en-US" sz="800" b="1">
              <a:solidFill>
                <a:srgbClr val="FFFF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7B66304E-0817-862F-E0AA-53E709E92A3E}"/>
              </a:ext>
            </a:extLst>
          </p:cNvPr>
          <p:cNvSpPr txBox="1"/>
          <p:nvPr/>
        </p:nvSpPr>
        <p:spPr>
          <a:xfrm>
            <a:off x="1362364" y="3744191"/>
            <a:ext cx="419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 dirty="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题材氛围、角色外观</a:t>
            </a:r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84DCD1C-C1C4-55AB-27B1-3F5A99B050AA}"/>
              </a:ext>
            </a:extLst>
          </p:cNvPr>
          <p:cNvSpPr/>
          <p:nvPr/>
        </p:nvSpPr>
        <p:spPr>
          <a:xfrm>
            <a:off x="1133764" y="4048991"/>
            <a:ext cx="139700" cy="139700"/>
          </a:xfrm>
          <a:prstGeom prst="ellipse">
            <a:avLst/>
          </a:prstGeom>
          <a:solidFill>
            <a:srgbClr val="1DAE9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rgbClr val="FFFF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  <a:endParaRPr lang="zh-CN" altLang="en-US" sz="800" b="1">
              <a:solidFill>
                <a:srgbClr val="FFFF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90FF0170-6168-946C-B2E9-B8EAAA293D8B}"/>
              </a:ext>
            </a:extLst>
          </p:cNvPr>
          <p:cNvSpPr txBox="1"/>
          <p:nvPr/>
        </p:nvSpPr>
        <p:spPr>
          <a:xfrm>
            <a:off x="1362364" y="4023591"/>
            <a:ext cx="419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3v3 </a:t>
            </a:r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协作、技能动作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05A5E449-3ED8-B9E0-59C6-23D11FB63F49}"/>
              </a:ext>
            </a:extLst>
          </p:cNvPr>
          <p:cNvSpPr/>
          <p:nvPr/>
        </p:nvSpPr>
        <p:spPr>
          <a:xfrm>
            <a:off x="955964" y="4518887"/>
            <a:ext cx="4470400" cy="1226070"/>
          </a:xfrm>
          <a:prstGeom prst="roundRect">
            <a:avLst>
              <a:gd name="adj" fmla="val 10000"/>
            </a:avLst>
          </a:prstGeom>
          <a:solidFill>
            <a:srgbClr val="221A1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1D613533-4130-E248-FEB0-D0C33DD46D61}"/>
              </a:ext>
            </a:extLst>
          </p:cNvPr>
          <p:cNvSpPr txBox="1"/>
          <p:nvPr/>
        </p:nvSpPr>
        <p:spPr>
          <a:xfrm>
            <a:off x="1133764" y="4544291"/>
            <a:ext cx="12065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 b="1">
                <a:solidFill>
                  <a:srgbClr val="FF6B5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阻碍 </a:t>
            </a:r>
            <a:r>
              <a:rPr lang="en-US" altLang="zh-CN" sz="1200" b="1">
                <a:solidFill>
                  <a:srgbClr val="FF6B5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/ </a:t>
            </a:r>
            <a:r>
              <a:rPr lang="zh-CN" altLang="en-US" sz="1200" b="1">
                <a:solidFill>
                  <a:srgbClr val="FF6B5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担心</a:t>
            </a:r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3357C96E-A41B-F1C1-A456-DBDA17CFC686}"/>
              </a:ext>
            </a:extLst>
          </p:cNvPr>
          <p:cNvSpPr/>
          <p:nvPr/>
        </p:nvSpPr>
        <p:spPr>
          <a:xfrm>
            <a:off x="1133764" y="4861791"/>
            <a:ext cx="139700" cy="139700"/>
          </a:xfrm>
          <a:prstGeom prst="ellipse">
            <a:avLst/>
          </a:prstGeom>
          <a:solidFill>
            <a:srgbClr val="FF6B5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rgbClr val="FFFF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-</a:t>
            </a:r>
            <a:endParaRPr lang="zh-CN" altLang="en-US" sz="800" b="1">
              <a:solidFill>
                <a:srgbClr val="FFFF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502EE11-9890-6BCA-84AC-F9C21EE33BA1}"/>
              </a:ext>
            </a:extLst>
          </p:cNvPr>
          <p:cNvSpPr txBox="1"/>
          <p:nvPr/>
        </p:nvSpPr>
        <p:spPr>
          <a:xfrm>
            <a:off x="1362364" y="4836391"/>
            <a:ext cx="419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按钮小 </a:t>
            </a:r>
            <a:r>
              <a:rPr lang="en-US" altLang="zh-CN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/ </a:t>
            </a:r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按不顺，锁不准</a:t>
            </a:r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AC32B1B8-37DE-7B36-99BE-CDAD12CEC826}"/>
              </a:ext>
            </a:extLst>
          </p:cNvPr>
          <p:cNvSpPr/>
          <p:nvPr/>
        </p:nvSpPr>
        <p:spPr>
          <a:xfrm>
            <a:off x="1133764" y="5141191"/>
            <a:ext cx="139700" cy="139700"/>
          </a:xfrm>
          <a:prstGeom prst="ellipse">
            <a:avLst/>
          </a:prstGeom>
          <a:solidFill>
            <a:srgbClr val="FF6B5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rgbClr val="FFFF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-</a:t>
            </a:r>
            <a:endParaRPr lang="zh-CN" altLang="en-US" sz="800" b="1">
              <a:solidFill>
                <a:srgbClr val="FFFF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70193AD-D676-193B-CB41-E0960B7A2D59}"/>
              </a:ext>
            </a:extLst>
          </p:cNvPr>
          <p:cNvSpPr txBox="1"/>
          <p:nvPr/>
        </p:nvSpPr>
        <p:spPr>
          <a:xfrm>
            <a:off x="1362364" y="5115791"/>
            <a:ext cx="419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信息看不懂，</a:t>
            </a:r>
            <a:r>
              <a:rPr lang="en-US" altLang="zh-CN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PvE </a:t>
            </a:r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目标不清</a:t>
            </a:r>
          </a:p>
        </p:txBody>
      </p:sp>
      <p:sp>
        <p:nvSpPr>
          <p:cNvPr id="76" name="矩形: 圆角 75">
            <a:extLst>
              <a:ext uri="{FF2B5EF4-FFF2-40B4-BE49-F238E27FC236}">
                <a16:creationId xmlns:a16="http://schemas.microsoft.com/office/drawing/2014/main" id="{49561FAD-4E1B-83F3-ED01-731D6D8FB529}"/>
              </a:ext>
            </a:extLst>
          </p:cNvPr>
          <p:cNvSpPr/>
          <p:nvPr/>
        </p:nvSpPr>
        <p:spPr>
          <a:xfrm>
            <a:off x="6400800" y="2108200"/>
            <a:ext cx="5181600" cy="3886200"/>
          </a:xfrm>
          <a:prstGeom prst="roundRect">
            <a:avLst>
              <a:gd name="adj" fmla="val 10000"/>
            </a:avLst>
          </a:prstGeom>
          <a:solidFill>
            <a:srgbClr val="101820"/>
          </a:solidFill>
          <a:ln w="12700">
            <a:solidFill>
              <a:srgbClr val="33414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C40C89CB-0FBE-A843-12E9-2291C94B240D}"/>
              </a:ext>
            </a:extLst>
          </p:cNvPr>
          <p:cNvSpPr/>
          <p:nvPr/>
        </p:nvSpPr>
        <p:spPr>
          <a:xfrm>
            <a:off x="6400800" y="2108200"/>
            <a:ext cx="88900" cy="3886200"/>
          </a:xfrm>
          <a:prstGeom prst="rect">
            <a:avLst/>
          </a:prstGeom>
          <a:solidFill>
            <a:srgbClr val="E26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095C6015-CE2C-5F2E-AFEB-6DBEE0553708}"/>
              </a:ext>
            </a:extLst>
          </p:cNvPr>
          <p:cNvSpPr/>
          <p:nvPr/>
        </p:nvSpPr>
        <p:spPr>
          <a:xfrm>
            <a:off x="6654800" y="2438400"/>
            <a:ext cx="127000" cy="127000"/>
          </a:xfrm>
          <a:prstGeom prst="ellipse">
            <a:avLst/>
          </a:prstGeom>
          <a:solidFill>
            <a:srgbClr val="E26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0DEA3EC-A58C-A88B-2B90-E44BF7348508}"/>
              </a:ext>
            </a:extLst>
          </p:cNvPr>
          <p:cNvSpPr txBox="1"/>
          <p:nvPr/>
        </p:nvSpPr>
        <p:spPr>
          <a:xfrm>
            <a:off x="6756400" y="2895600"/>
            <a:ext cx="447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900" b="1" dirty="0">
                <a:solidFill>
                  <a:srgbClr val="F8F6E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认可操控优化，但担心战斗策略变浅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E70A39DF-87F7-23A4-6304-B2B207061A02}"/>
              </a:ext>
            </a:extLst>
          </p:cNvPr>
          <p:cNvSpPr/>
          <p:nvPr/>
        </p:nvSpPr>
        <p:spPr>
          <a:xfrm>
            <a:off x="6747164" y="3435929"/>
            <a:ext cx="4470400" cy="812800"/>
          </a:xfrm>
          <a:prstGeom prst="roundRect">
            <a:avLst>
              <a:gd name="adj" fmla="val 10000"/>
            </a:avLst>
          </a:prstGeom>
          <a:solidFill>
            <a:srgbClr val="162A2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DE2977B5-0E24-4A0F-A901-868FD25DADC7}"/>
              </a:ext>
            </a:extLst>
          </p:cNvPr>
          <p:cNvSpPr txBox="1"/>
          <p:nvPr/>
        </p:nvSpPr>
        <p:spPr>
          <a:xfrm>
            <a:off x="6924964" y="3452091"/>
            <a:ext cx="12065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 b="1">
                <a:solidFill>
                  <a:srgbClr val="E26A3B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喜欢</a:t>
            </a:r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B66C0F3C-7188-98A7-6A7F-B59D1BEF4C9F}"/>
              </a:ext>
            </a:extLst>
          </p:cNvPr>
          <p:cNvSpPr/>
          <p:nvPr/>
        </p:nvSpPr>
        <p:spPr>
          <a:xfrm>
            <a:off x="6924964" y="3769591"/>
            <a:ext cx="139700" cy="139700"/>
          </a:xfrm>
          <a:prstGeom prst="ellipse">
            <a:avLst/>
          </a:prstGeom>
          <a:solidFill>
            <a:srgbClr val="E26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rgbClr val="FFFF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  <a:endParaRPr lang="zh-CN" altLang="en-US" sz="800" b="1">
              <a:solidFill>
                <a:srgbClr val="FFFF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64A3D31-B1BE-6E52-600F-D483651D9602}"/>
              </a:ext>
            </a:extLst>
          </p:cNvPr>
          <p:cNvSpPr txBox="1"/>
          <p:nvPr/>
        </p:nvSpPr>
        <p:spPr>
          <a:xfrm>
            <a:off x="7153564" y="3734955"/>
            <a:ext cx="419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角色闪避、武器格挡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F986BE5-DA5A-D417-D55D-6EAD73970BD4}"/>
              </a:ext>
            </a:extLst>
          </p:cNvPr>
          <p:cNvSpPr/>
          <p:nvPr/>
        </p:nvSpPr>
        <p:spPr>
          <a:xfrm>
            <a:off x="6924964" y="4048991"/>
            <a:ext cx="139700" cy="139700"/>
          </a:xfrm>
          <a:prstGeom prst="ellipse">
            <a:avLst/>
          </a:prstGeom>
          <a:solidFill>
            <a:srgbClr val="E26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rgbClr val="FFFF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  <a:endParaRPr lang="zh-CN" altLang="en-US" sz="800" b="1">
              <a:solidFill>
                <a:srgbClr val="FFFF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A4B17E4-10F5-FA26-1DDE-9E8F6D55B06E}"/>
              </a:ext>
            </a:extLst>
          </p:cNvPr>
          <p:cNvSpPr txBox="1"/>
          <p:nvPr/>
        </p:nvSpPr>
        <p:spPr>
          <a:xfrm>
            <a:off x="7153564" y="4023591"/>
            <a:ext cx="419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职业分工、打击反馈</a:t>
            </a: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E3D48F98-7076-ECD0-575E-48D4198BA876}"/>
              </a:ext>
            </a:extLst>
          </p:cNvPr>
          <p:cNvSpPr/>
          <p:nvPr/>
        </p:nvSpPr>
        <p:spPr>
          <a:xfrm>
            <a:off x="6747164" y="4509651"/>
            <a:ext cx="4470400" cy="1235306"/>
          </a:xfrm>
          <a:prstGeom prst="roundRect">
            <a:avLst>
              <a:gd name="adj" fmla="val 10000"/>
            </a:avLst>
          </a:prstGeom>
          <a:solidFill>
            <a:srgbClr val="221A1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D0AE685F-BC0D-C2CD-DADA-2940418B21E4}"/>
              </a:ext>
            </a:extLst>
          </p:cNvPr>
          <p:cNvSpPr txBox="1"/>
          <p:nvPr/>
        </p:nvSpPr>
        <p:spPr>
          <a:xfrm>
            <a:off x="6924964" y="4544291"/>
            <a:ext cx="12065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 b="1">
                <a:solidFill>
                  <a:srgbClr val="FF6B5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阻碍 </a:t>
            </a:r>
            <a:r>
              <a:rPr lang="en-US" altLang="zh-CN" sz="1200" b="1">
                <a:solidFill>
                  <a:srgbClr val="FF6B5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/ </a:t>
            </a:r>
            <a:r>
              <a:rPr lang="zh-CN" altLang="en-US" sz="1200" b="1">
                <a:solidFill>
                  <a:srgbClr val="FF6B5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担心</a:t>
            </a:r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5EBD67A2-1843-CE11-6528-FBF6D636E58D}"/>
              </a:ext>
            </a:extLst>
          </p:cNvPr>
          <p:cNvSpPr/>
          <p:nvPr/>
        </p:nvSpPr>
        <p:spPr>
          <a:xfrm>
            <a:off x="6924964" y="4861791"/>
            <a:ext cx="139700" cy="139700"/>
          </a:xfrm>
          <a:prstGeom prst="ellipse">
            <a:avLst/>
          </a:prstGeom>
          <a:solidFill>
            <a:srgbClr val="FF6B5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rgbClr val="FFFF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-</a:t>
            </a:r>
            <a:endParaRPr lang="zh-CN" altLang="en-US" sz="800" b="1">
              <a:solidFill>
                <a:srgbClr val="FFFF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E8C4374-FA49-0C69-8819-23160C2B6668}"/>
              </a:ext>
            </a:extLst>
          </p:cNvPr>
          <p:cNvSpPr txBox="1"/>
          <p:nvPr/>
        </p:nvSpPr>
        <p:spPr>
          <a:xfrm>
            <a:off x="7153564" y="4836391"/>
            <a:ext cx="419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宽镜头削弱压迫感</a:t>
            </a:r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EC2EC064-E005-E2D3-61AC-33512070509F}"/>
              </a:ext>
            </a:extLst>
          </p:cNvPr>
          <p:cNvSpPr/>
          <p:nvPr/>
        </p:nvSpPr>
        <p:spPr>
          <a:xfrm>
            <a:off x="6924964" y="5141191"/>
            <a:ext cx="139700" cy="139700"/>
          </a:xfrm>
          <a:prstGeom prst="ellipse">
            <a:avLst/>
          </a:prstGeom>
          <a:solidFill>
            <a:srgbClr val="FF6B5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rgbClr val="FFFF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-</a:t>
            </a:r>
            <a:endParaRPr lang="zh-CN" altLang="en-US" sz="800" b="1">
              <a:solidFill>
                <a:srgbClr val="FFFF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852F9A93-3E7E-EE07-9985-95C661779BA6}"/>
              </a:ext>
            </a:extLst>
          </p:cNvPr>
          <p:cNvSpPr txBox="1"/>
          <p:nvPr/>
        </p:nvSpPr>
        <p:spPr>
          <a:xfrm>
            <a:off x="7153564" y="5115791"/>
            <a:ext cx="419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自动锁敌削弱操作</a:t>
            </a:r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6617B9E9-2ADA-2574-5466-F98E685D7F77}"/>
              </a:ext>
            </a:extLst>
          </p:cNvPr>
          <p:cNvSpPr/>
          <p:nvPr/>
        </p:nvSpPr>
        <p:spPr>
          <a:xfrm>
            <a:off x="6924964" y="5420591"/>
            <a:ext cx="139700" cy="139700"/>
          </a:xfrm>
          <a:prstGeom prst="ellipse">
            <a:avLst/>
          </a:prstGeom>
          <a:solidFill>
            <a:srgbClr val="FF6B5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b="1">
                <a:solidFill>
                  <a:srgbClr val="FFFFF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-</a:t>
            </a:r>
            <a:endParaRPr lang="zh-CN" altLang="en-US" sz="800" b="1">
              <a:solidFill>
                <a:srgbClr val="FFFFFF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EADA2DF-5ECA-ED1D-590A-BB184E52E285}"/>
              </a:ext>
            </a:extLst>
          </p:cNvPr>
          <p:cNvSpPr txBox="1"/>
          <p:nvPr/>
        </p:nvSpPr>
        <p:spPr>
          <a:xfrm>
            <a:off x="7153564" y="5395191"/>
            <a:ext cx="4191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00">
                <a:solidFill>
                  <a:srgbClr val="D8E0E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通用格挡削弱职业差异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3D66078B-28AA-B8C6-C0A5-7B7EE6B3E4BC}"/>
              </a:ext>
            </a:extLst>
          </p:cNvPr>
          <p:cNvSpPr/>
          <p:nvPr/>
        </p:nvSpPr>
        <p:spPr>
          <a:xfrm>
            <a:off x="6934200" y="2385868"/>
            <a:ext cx="1092200" cy="279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F8F6EF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老玩家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18776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204</Words>
  <Application>Microsoft Office PowerPoint</Application>
  <PresentationFormat>宽屏</PresentationFormat>
  <Paragraphs>42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Microsoft YaHei UI</vt:lpstr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 chenchen</dc:creator>
  <cp:lastModifiedBy>Zhang chenchen</cp:lastModifiedBy>
  <cp:revision>9</cp:revision>
  <dcterms:created xsi:type="dcterms:W3CDTF">2026-05-12T13:32:47Z</dcterms:created>
  <dcterms:modified xsi:type="dcterms:W3CDTF">2026-05-12T14:05:37Z</dcterms:modified>
</cp:coreProperties>
</file>