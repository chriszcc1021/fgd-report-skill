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6862BF-A038-0B32-FC66-BF1FD630B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BE00A5-9DFF-1819-DF1D-23D52988E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1DE803-B5D8-2A07-E4E6-E8EEC1889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549FB-2D0B-4A0B-349A-CBA34B401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F32C41-6748-843F-A07F-36AE042FF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454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BF24DB-7C26-6A5C-E1DA-8176FE15D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94BF92-2946-DE07-E77E-026F22872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DAF9CC-BE2B-FF34-6258-DFD85BF23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D119E2-8860-D4FE-8A26-AFE8ED34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227831-371C-8FEF-C0E0-BD120FC0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89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42FCD-5B71-F4BB-EF6A-3BCF7F06A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75FA9A-B669-5AFA-90B4-AC21D350DB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89F2C-883A-33C5-8B1B-575C8A5DB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1D06D-DAF3-25A4-D20D-53FB55563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DCFF6B-FCDB-D396-7FB3-2881F3B56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842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7BDD6-B95A-4AB8-E46A-FC21D3E09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270711-BE89-3FB8-88E7-D6C32DBFE9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AE8184-98D6-048B-24DC-8CB8AD9B8F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C7DCDE-D033-E670-27B3-E2CA622B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2F7A25-4558-2E34-0E29-0580805A7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E45A9C-24A2-B673-ADDD-75CB0560E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44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5DB2C1-F7FF-7009-98BC-E2C584264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ECE7D2-4E4E-1390-1650-618DD8F39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4F01B5-86D6-E047-3521-C4C5677696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D29DA3C-AC0F-2674-4C94-A754F3442F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3C1BA0-2527-2526-B806-508E684365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AC799DD-6A78-4C2E-FBB4-E793EE3B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270B54-EA9D-C98D-52B1-C47C5EAC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CD3DC2-ACDA-06E0-5519-9195E1A0C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468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8BDC2-102A-429D-99DB-75D9DBD72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F001B7-C938-024F-761D-66DFE773E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DB5ABA-8614-6CE9-FD4F-85C907E7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E72DA89-3549-82BA-BFC0-0FF7CE11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252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D4C817-7D67-CC5F-3E80-75E17593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96B748-B49F-7AAA-537A-B4F7EAAE1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61EECF-EC62-8F4F-51E4-CD8FE292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039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1DB45-CA82-AF12-1062-66F7A3CE8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413BFC-68C5-4869-D33E-B942656AA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3C7622-4404-8DAE-50C1-9D60BC86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9F3BF5-65C1-89A1-4814-82F8D935A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23D3B7-9E8E-447A-CE47-3CCA7C6E8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7D8A92-CE2A-8530-748D-40338EC75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2393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E0B95-7280-A38C-27C2-F8488D6F4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034793-0005-A75F-643F-93F52F5A00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408987-03FF-D34C-5884-683B01F1E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A3E3F0-FCD7-A7F5-25B1-78879664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04AAF5-743F-5FFC-C71B-F04A4887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DC1B5D-B2F5-0F3E-CC1D-872D42B99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9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343A6F-7E49-2510-594C-8CC44247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D68B36-9120-285E-B256-638B0DEA3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125BF3-99B3-9A03-6066-4E4B9FF4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4CFB3A-D86B-11C7-F2D8-DAD13A37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350355-6D4D-562E-44E2-599D37D57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138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C7AA62-E57D-BFE2-70AA-0D912FA4F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325737-F1DA-F658-0F63-3836B08F5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7FAF26-F31F-7224-0991-3A66BD6B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21DAE-30AD-9672-4CC2-D9176E8E0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7947B3-65F3-2577-2271-9C9D97C4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15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EA7FB97-DBA7-47AE-74F0-0CD67F402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0A11D5-967A-67FB-3D9B-58B03A2A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626E36-0078-E58C-5F15-9E0BE1C2C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FEA55-AB1C-455C-9F29-5DC64375238B}" type="datetimeFigureOut">
              <a:rPr lang="zh-CN" altLang="en-US" smtClean="0"/>
              <a:t>2026/5/12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F19C27-6409-4A3D-997B-5F3F58620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91D1E-77D4-4FF8-D919-FA9D02797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70EAD0-80BA-46EF-86E6-8E916EAD37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20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73205F-CEB3-B65B-FC83-9D4D2B9DEB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B1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B77223B-67D9-DABA-0A14-EC44A89274ED}"/>
              </a:ext>
            </a:extLst>
          </p:cNvPr>
          <p:cNvSpPr txBox="1"/>
          <p:nvPr/>
        </p:nvSpPr>
        <p:spPr>
          <a:xfrm>
            <a:off x="596900" y="228600"/>
            <a:ext cx="1651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 b="1">
                <a:solidFill>
                  <a:srgbClr val="FF5F3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焦点小组调研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B6ADCB3-DBE4-D852-2032-797DFE6F77C8}"/>
              </a:ext>
            </a:extLst>
          </p:cNvPr>
          <p:cNvSpPr txBox="1"/>
          <p:nvPr/>
        </p:nvSpPr>
        <p:spPr>
          <a:xfrm>
            <a:off x="571500" y="482600"/>
            <a:ext cx="4826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b="1">
                <a:solidFill>
                  <a:srgbClr val="F8F6E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三地 </a:t>
            </a:r>
            <a:r>
              <a:rPr lang="en-US" altLang="zh-CN" sz="3100" b="1">
                <a:solidFill>
                  <a:srgbClr val="F8F6E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FGD </a:t>
            </a:r>
            <a:r>
              <a:rPr lang="zh-CN" altLang="en-US" sz="3100" b="1">
                <a:solidFill>
                  <a:srgbClr val="F8F6E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现场回顾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F217CB2-89A2-BED4-8432-455842F6F022}"/>
              </a:ext>
            </a:extLst>
          </p:cNvPr>
          <p:cNvSpPr txBox="1"/>
          <p:nvPr/>
        </p:nvSpPr>
        <p:spPr>
          <a:xfrm>
            <a:off x="596900" y="952500"/>
            <a:ext cx="469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>
                <a:solidFill>
                  <a:srgbClr val="B9C3C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按地区整理现场试玩、观察与访谈照片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3655FAC9-AD88-6913-6D40-2BF5F6C2CEAE}"/>
              </a:ext>
            </a:extLst>
          </p:cNvPr>
          <p:cNvSpPr/>
          <p:nvPr/>
        </p:nvSpPr>
        <p:spPr>
          <a:xfrm>
            <a:off x="5486400" y="254000"/>
            <a:ext cx="6286500" cy="977900"/>
          </a:xfrm>
          <a:prstGeom prst="roundRect">
            <a:avLst>
              <a:gd name="adj" fmla="val 14000"/>
            </a:avLst>
          </a:prstGeom>
          <a:solidFill>
            <a:srgbClr val="101820"/>
          </a:solidFill>
          <a:ln w="12700">
            <a:solidFill>
              <a:srgbClr val="2F3B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818A28A-6086-F47E-A89E-7033B89338E4}"/>
              </a:ext>
            </a:extLst>
          </p:cNvPr>
          <p:cNvSpPr/>
          <p:nvPr/>
        </p:nvSpPr>
        <p:spPr>
          <a:xfrm>
            <a:off x="5715000" y="457200"/>
            <a:ext cx="88900" cy="88900"/>
          </a:xfrm>
          <a:prstGeom prst="ellipse">
            <a:avLst/>
          </a:prstGeom>
          <a:solidFill>
            <a:srgbClr val="38D5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88FC1AE-4154-A6BB-9015-BA26321C6B0C}"/>
              </a:ext>
            </a:extLst>
          </p:cNvPr>
          <p:cNvSpPr/>
          <p:nvPr/>
        </p:nvSpPr>
        <p:spPr>
          <a:xfrm>
            <a:off x="5715000" y="723900"/>
            <a:ext cx="88900" cy="88900"/>
          </a:xfrm>
          <a:prstGeom prst="ellipse">
            <a:avLst/>
          </a:prstGeom>
          <a:solidFill>
            <a:srgbClr val="FFBE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56E4CE8-0492-B7A6-D50E-433762F45E8C}"/>
              </a:ext>
            </a:extLst>
          </p:cNvPr>
          <p:cNvSpPr/>
          <p:nvPr/>
        </p:nvSpPr>
        <p:spPr>
          <a:xfrm>
            <a:off x="5715000" y="990600"/>
            <a:ext cx="88900" cy="88900"/>
          </a:xfrm>
          <a:prstGeom prst="ellipse">
            <a:avLst/>
          </a:prstGeom>
          <a:solidFill>
            <a:srgbClr val="FF68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335624-BD68-A577-6921-7F343F0653FE}"/>
              </a:ext>
            </a:extLst>
          </p:cNvPr>
          <p:cNvSpPr txBox="1"/>
          <p:nvPr/>
        </p:nvSpPr>
        <p:spPr>
          <a:xfrm>
            <a:off x="5918200" y="431800"/>
            <a:ext cx="914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调研地区：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5CBE18-46B7-A71A-9F37-46335BAC7C91}"/>
              </a:ext>
            </a:extLst>
          </p:cNvPr>
          <p:cNvSpPr txBox="1"/>
          <p:nvPr/>
        </p:nvSpPr>
        <p:spPr>
          <a:xfrm>
            <a:off x="6858000" y="431800"/>
            <a:ext cx="431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越南，印尼，墨西哥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676512-2658-B703-2BA3-D65D7CF1860C}"/>
              </a:ext>
            </a:extLst>
          </p:cNvPr>
          <p:cNvSpPr txBox="1"/>
          <p:nvPr/>
        </p:nvSpPr>
        <p:spPr>
          <a:xfrm>
            <a:off x="5918200" y="698500"/>
            <a:ext cx="914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玩家类型：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3F7BFF-2F99-9817-01B2-E011595C1A15}"/>
              </a:ext>
            </a:extLst>
          </p:cNvPr>
          <p:cNvSpPr txBox="1"/>
          <p:nvPr/>
        </p:nvSpPr>
        <p:spPr>
          <a:xfrm>
            <a:off x="6858000" y="698500"/>
            <a:ext cx="4318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新玩家，硬核老玩家，流失老玩家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8934B1-40D4-C917-D1EF-1220EAE49B56}"/>
              </a:ext>
            </a:extLst>
          </p:cNvPr>
          <p:cNvSpPr txBox="1"/>
          <p:nvPr/>
        </p:nvSpPr>
        <p:spPr>
          <a:xfrm>
            <a:off x="5918200" y="965200"/>
            <a:ext cx="9144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调研目的：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EDDEA75-18E9-DE6D-6755-4A83758B4260}"/>
              </a:ext>
            </a:extLst>
          </p:cNvPr>
          <p:cNvSpPr txBox="1"/>
          <p:nvPr/>
        </p:nvSpPr>
        <p:spPr>
          <a:xfrm>
            <a:off x="6858000" y="965200"/>
            <a:ext cx="4572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重点验证新版本 </a:t>
            </a:r>
            <a:r>
              <a:rPr lang="en-US" altLang="zh-CN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3C </a:t>
            </a:r>
            <a:r>
              <a:rPr lang="zh-CN" altLang="en-US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战斗体验，其次验证 </a:t>
            </a:r>
            <a:r>
              <a:rPr lang="en-US" altLang="zh-CN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PVE </a:t>
            </a:r>
            <a:r>
              <a:rPr lang="zh-CN" altLang="en-US" sz="1250">
                <a:solidFill>
                  <a:srgbClr val="D7DE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新模式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23F4182-B21E-C6E9-4DB0-0620343F5259}"/>
              </a:ext>
            </a:extLst>
          </p:cNvPr>
          <p:cNvSpPr/>
          <p:nvPr/>
        </p:nvSpPr>
        <p:spPr>
          <a:xfrm>
            <a:off x="444500" y="1473200"/>
            <a:ext cx="3524250" cy="4953000"/>
          </a:xfrm>
          <a:prstGeom prst="roundRect">
            <a:avLst>
              <a:gd name="adj" fmla="val 12000"/>
            </a:avLst>
          </a:prstGeom>
          <a:solidFill>
            <a:srgbClr val="101820"/>
          </a:solidFill>
          <a:ln w="12700">
            <a:solidFill>
              <a:srgbClr val="334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662DB3E8-66A0-812B-64CE-1218E3AC2FCF}"/>
              </a:ext>
            </a:extLst>
          </p:cNvPr>
          <p:cNvSpPr/>
          <p:nvPr/>
        </p:nvSpPr>
        <p:spPr>
          <a:xfrm>
            <a:off x="647700" y="1701800"/>
            <a:ext cx="127000" cy="127000"/>
          </a:xfrm>
          <a:prstGeom prst="ellipse">
            <a:avLst/>
          </a:prstGeom>
          <a:solidFill>
            <a:srgbClr val="38D5D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57531-1DEA-A19F-F658-080936ED541C}"/>
              </a:ext>
            </a:extLst>
          </p:cNvPr>
          <p:cNvSpPr txBox="1"/>
          <p:nvPr/>
        </p:nvSpPr>
        <p:spPr>
          <a:xfrm>
            <a:off x="901700" y="16510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印尼 </a:t>
            </a:r>
            <a:r>
              <a:rPr lang="en-US" altLang="zh-CN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FGD</a:t>
            </a:r>
            <a:endParaRPr lang="zh-CN" altLang="en-US" sz="2000" b="1">
              <a:solidFill>
                <a:srgbClr val="F5F4EE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17BA681-D2CE-A978-D37E-A4845EF02B69}"/>
              </a:ext>
            </a:extLst>
          </p:cNvPr>
          <p:cNvSpPr txBox="1"/>
          <p:nvPr/>
        </p:nvSpPr>
        <p:spPr>
          <a:xfrm>
            <a:off x="2889250" y="16764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</a:t>
            </a:r>
            <a:r>
              <a:rPr lang="zh-CN" altLang="en-US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张照片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1511BB2-2DB5-4815-25D2-6BCE1E5BF65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2057400"/>
            <a:ext cx="3219450" cy="19050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55039A2-F7DB-EA42-DE01-E4C1A2ED2B43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0" y="4076700"/>
            <a:ext cx="1565275" cy="19939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050D0128-EDC2-3644-14B0-737EEB2C664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075" y="4076700"/>
            <a:ext cx="1565275" cy="19939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3324B96C-A518-6F2A-B311-04FF99F33A6A}"/>
              </a:ext>
            </a:extLst>
          </p:cNvPr>
          <p:cNvSpPr/>
          <p:nvPr/>
        </p:nvSpPr>
        <p:spPr>
          <a:xfrm>
            <a:off x="4349750" y="1473200"/>
            <a:ext cx="3524250" cy="4953000"/>
          </a:xfrm>
          <a:prstGeom prst="roundRect">
            <a:avLst>
              <a:gd name="adj" fmla="val 12000"/>
            </a:avLst>
          </a:prstGeom>
          <a:solidFill>
            <a:srgbClr val="101820"/>
          </a:solidFill>
          <a:ln w="12700">
            <a:solidFill>
              <a:srgbClr val="334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AC56CD50-494D-B468-0A0A-A2DECC99CBA2}"/>
              </a:ext>
            </a:extLst>
          </p:cNvPr>
          <p:cNvSpPr/>
          <p:nvPr/>
        </p:nvSpPr>
        <p:spPr>
          <a:xfrm>
            <a:off x="4552950" y="1701800"/>
            <a:ext cx="127000" cy="127000"/>
          </a:xfrm>
          <a:prstGeom prst="ellipse">
            <a:avLst/>
          </a:prstGeom>
          <a:solidFill>
            <a:srgbClr val="FFBE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3A6AD16-3AAB-3045-5CD5-FD863BE37A6D}"/>
              </a:ext>
            </a:extLst>
          </p:cNvPr>
          <p:cNvSpPr txBox="1"/>
          <p:nvPr/>
        </p:nvSpPr>
        <p:spPr>
          <a:xfrm>
            <a:off x="4806950" y="16510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越南 </a:t>
            </a:r>
            <a:r>
              <a:rPr lang="en-US" altLang="zh-CN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FGD</a:t>
            </a:r>
            <a:endParaRPr lang="zh-CN" altLang="en-US" sz="2000" b="1">
              <a:solidFill>
                <a:srgbClr val="F5F4EE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ED07A74-DF9B-5982-2CF9-A392537B1264}"/>
              </a:ext>
            </a:extLst>
          </p:cNvPr>
          <p:cNvSpPr txBox="1"/>
          <p:nvPr/>
        </p:nvSpPr>
        <p:spPr>
          <a:xfrm>
            <a:off x="6794500" y="16764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 </a:t>
            </a:r>
            <a:r>
              <a:rPr lang="zh-CN" altLang="en-US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张照片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8827C497-DA73-4EEB-F0C6-1B3CA7F6D3B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150" y="2057400"/>
            <a:ext cx="3219450" cy="19050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CFA6351C-969F-CE29-F471-FA092B916D3B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150" y="4076700"/>
            <a:ext cx="1565275" cy="19939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A8B51832-F67D-B6E1-F166-9C2293454DC8}"/>
              </a:ext>
            </a:extLst>
          </p:cNvPr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325" y="4076700"/>
            <a:ext cx="1565275" cy="19939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3BD9229-8326-3542-4FD5-E034C33C1EF1}"/>
              </a:ext>
            </a:extLst>
          </p:cNvPr>
          <p:cNvSpPr/>
          <p:nvPr/>
        </p:nvSpPr>
        <p:spPr>
          <a:xfrm>
            <a:off x="8255000" y="1473200"/>
            <a:ext cx="3524250" cy="4953000"/>
          </a:xfrm>
          <a:prstGeom prst="roundRect">
            <a:avLst>
              <a:gd name="adj" fmla="val 12000"/>
            </a:avLst>
          </a:prstGeom>
          <a:solidFill>
            <a:srgbClr val="101820"/>
          </a:solidFill>
          <a:ln w="12700">
            <a:solidFill>
              <a:srgbClr val="3341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115E11CE-8092-5E52-AEC8-AC3F6F46E262}"/>
              </a:ext>
            </a:extLst>
          </p:cNvPr>
          <p:cNvSpPr/>
          <p:nvPr/>
        </p:nvSpPr>
        <p:spPr>
          <a:xfrm>
            <a:off x="8458200" y="1701800"/>
            <a:ext cx="127000" cy="127000"/>
          </a:xfrm>
          <a:prstGeom prst="ellipse">
            <a:avLst/>
          </a:prstGeom>
          <a:solidFill>
            <a:srgbClr val="FF686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8B50C59A-BAE0-E659-6B29-63D5B41B405C}"/>
              </a:ext>
            </a:extLst>
          </p:cNvPr>
          <p:cNvSpPr txBox="1"/>
          <p:nvPr/>
        </p:nvSpPr>
        <p:spPr>
          <a:xfrm>
            <a:off x="8712200" y="1651000"/>
            <a:ext cx="190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墨西哥 </a:t>
            </a:r>
            <a:r>
              <a:rPr lang="en-US" altLang="zh-CN" sz="2000" b="1">
                <a:solidFill>
                  <a:srgbClr val="F5F4EE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FGD</a:t>
            </a:r>
            <a:endParaRPr lang="zh-CN" altLang="en-US" sz="2000" b="1">
              <a:solidFill>
                <a:srgbClr val="F5F4EE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1558963D-418D-4298-2E76-D0110D029436}"/>
              </a:ext>
            </a:extLst>
          </p:cNvPr>
          <p:cNvSpPr txBox="1"/>
          <p:nvPr/>
        </p:nvSpPr>
        <p:spPr>
          <a:xfrm>
            <a:off x="10699750" y="16764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 </a:t>
            </a:r>
            <a:r>
              <a:rPr lang="zh-CN" altLang="en-US" sz="1200">
                <a:solidFill>
                  <a:srgbClr val="C9D3D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张照片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CF6ADE88-458F-C9B4-9B86-9BC07029CC7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0" y="2057400"/>
            <a:ext cx="3219450" cy="19304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51900E8-EFA5-048D-49D7-7E742D120356}"/>
              </a:ext>
            </a:extLst>
          </p:cNvPr>
          <p:cNvPicPr>
            <a:picLocks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7400" y="4114800"/>
            <a:ext cx="3219450" cy="1968500"/>
          </a:xfrm>
          <a:prstGeom prst="rect">
            <a:avLst/>
          </a:prstGeom>
          <a:ln w="9525">
            <a:solidFill>
              <a:srgbClr val="6E7781"/>
            </a:solidFill>
          </a:ln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C4A96204-A107-8D03-1A5F-960AB8B8E8A1}"/>
              </a:ext>
            </a:extLst>
          </p:cNvPr>
          <p:cNvSpPr txBox="1"/>
          <p:nvPr/>
        </p:nvSpPr>
        <p:spPr>
          <a:xfrm>
            <a:off x="469900" y="6565900"/>
            <a:ext cx="584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00">
                <a:solidFill>
                  <a:srgbClr val="B8C0C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已移除标注 </a:t>
            </a:r>
            <a:r>
              <a:rPr lang="en-US" altLang="zh-CN" sz="1100">
                <a:solidFill>
                  <a:srgbClr val="B8C0C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× </a:t>
            </a:r>
            <a:r>
              <a:rPr lang="zh-CN" altLang="en-US" sz="1100">
                <a:solidFill>
                  <a:srgbClr val="B8C0C8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的无效照片；保留现场试玩、观察、记录场景。</a:t>
            </a:r>
          </a:p>
        </p:txBody>
      </p:sp>
    </p:spTree>
    <p:extLst>
      <p:ext uri="{BB962C8B-B14F-4D97-AF65-F5344CB8AC3E}">
        <p14:creationId xmlns:p14="http://schemas.microsoft.com/office/powerpoint/2010/main" val="92037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B23B5C1-812B-852F-E920-FC27CF0EFC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9826CB7-2E58-D0B5-2FD3-DA33012CE2C4}"/>
              </a:ext>
            </a:extLst>
          </p:cNvPr>
          <p:cNvSpPr txBox="1"/>
          <p:nvPr/>
        </p:nvSpPr>
        <p:spPr>
          <a:xfrm>
            <a:off x="609600" y="431800"/>
            <a:ext cx="10985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1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全区 </a:t>
            </a:r>
            <a:r>
              <a:rPr lang="en-US" altLang="zh-CN" sz="21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FGD </a:t>
            </a:r>
            <a:r>
              <a:rPr lang="zh-CN" altLang="en-US" sz="21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总结：新 </a:t>
            </a:r>
            <a:r>
              <a:rPr lang="en-US" altLang="zh-CN" sz="21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3C </a:t>
            </a:r>
            <a:r>
              <a:rPr lang="zh-CN" altLang="en-US" sz="21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有吸引力，但老玩家担心核心体验变浅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CB3B8948-0B0C-7892-D682-CE128C7E1AE1}"/>
              </a:ext>
            </a:extLst>
          </p:cNvPr>
          <p:cNvSpPr/>
          <p:nvPr/>
        </p:nvSpPr>
        <p:spPr>
          <a:xfrm>
            <a:off x="609600" y="1066800"/>
            <a:ext cx="10985500" cy="698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3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B402227A-43B9-338D-190A-9FCF4838C963}"/>
              </a:ext>
            </a:extLst>
          </p:cNvPr>
          <p:cNvSpPr/>
          <p:nvPr/>
        </p:nvSpPr>
        <p:spPr>
          <a:xfrm>
            <a:off x="889000" y="1308100"/>
            <a:ext cx="228600" cy="228600"/>
          </a:xfrm>
          <a:prstGeom prst="ellipse">
            <a:avLst/>
          </a:prstGeom>
          <a:solidFill>
            <a:srgbClr val="30C2C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99DE73D-C1E6-9FE6-7E51-8C7A020B0B11}"/>
              </a:ext>
            </a:extLst>
          </p:cNvPr>
          <p:cNvSpPr txBox="1"/>
          <p:nvPr/>
        </p:nvSpPr>
        <p:spPr>
          <a:xfrm>
            <a:off x="1244600" y="1244600"/>
            <a:ext cx="889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200" b="1">
                <a:solidFill>
                  <a:srgbClr val="2183A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总判断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3655B8-458D-C15F-F60F-E784FEF2C604}"/>
              </a:ext>
            </a:extLst>
          </p:cNvPr>
          <p:cNvSpPr txBox="1"/>
          <p:nvPr/>
        </p:nvSpPr>
        <p:spPr>
          <a:xfrm>
            <a:off x="2159000" y="1231900"/>
            <a:ext cx="8636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新版本 </a:t>
            </a:r>
            <a:r>
              <a:rPr lang="en-US" altLang="zh-CN" sz="135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3C </a:t>
            </a:r>
            <a:r>
              <a:rPr lang="zh-CN" altLang="en-US" sz="135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的“打斗吸引力”已被认可，但“搜打撤闭环”仍需后续验证。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0581A53-C453-ED8F-FB11-AD9DCD9B44FE}"/>
              </a:ext>
            </a:extLst>
          </p:cNvPr>
          <p:cNvSpPr txBox="1"/>
          <p:nvPr/>
        </p:nvSpPr>
        <p:spPr>
          <a:xfrm>
            <a:off x="2159000" y="1511300"/>
            <a:ext cx="8636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6470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新玩家想进来，老玩家怕失去 </a:t>
            </a:r>
            <a:r>
              <a:rPr lang="en-US" altLang="zh-CN" sz="1000">
                <a:solidFill>
                  <a:srgbClr val="6470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GnG </a:t>
            </a:r>
            <a:r>
              <a:rPr lang="zh-CN" altLang="en-US" sz="1000">
                <a:solidFill>
                  <a:srgbClr val="6470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味道。</a:t>
            </a:r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50CA8EF2-BAD7-8AA5-B2DF-2A261ACC5CD8}"/>
              </a:ext>
            </a:extLst>
          </p:cNvPr>
          <p:cNvSpPr/>
          <p:nvPr/>
        </p:nvSpPr>
        <p:spPr>
          <a:xfrm>
            <a:off x="609600" y="1981200"/>
            <a:ext cx="5181600" cy="3276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3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CB5B3B4-EA3C-CF43-1F5B-AA09EED0D1B8}"/>
              </a:ext>
            </a:extLst>
          </p:cNvPr>
          <p:cNvSpPr/>
          <p:nvPr/>
        </p:nvSpPr>
        <p:spPr>
          <a:xfrm>
            <a:off x="609600" y="1981200"/>
            <a:ext cx="88900" cy="3276600"/>
          </a:xfrm>
          <a:prstGeom prst="rect">
            <a:avLst/>
          </a:prstGeom>
          <a:solidFill>
            <a:srgbClr val="1DA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83EC0AA1-9275-B2FD-6E31-CB61BF3F93AD}"/>
              </a:ext>
            </a:extLst>
          </p:cNvPr>
          <p:cNvSpPr/>
          <p:nvPr/>
        </p:nvSpPr>
        <p:spPr>
          <a:xfrm>
            <a:off x="889000" y="2209800"/>
            <a:ext cx="1092200" cy="254000"/>
          </a:xfrm>
          <a:prstGeom prst="roundRect">
            <a:avLst>
              <a:gd name="adj" fmla="val 50000"/>
            </a:avLst>
          </a:prstGeom>
          <a:solidFill>
            <a:srgbClr val="1DA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43690EB-232B-5B86-0621-5F96CCBC3DE4}"/>
              </a:ext>
            </a:extLst>
          </p:cNvPr>
          <p:cNvSpPr txBox="1"/>
          <p:nvPr/>
        </p:nvSpPr>
        <p:spPr>
          <a:xfrm>
            <a:off x="990600" y="2260600"/>
            <a:ext cx="889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新玩家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A50C4076-65BE-FC1F-C050-E55E75F8C279}"/>
              </a:ext>
            </a:extLst>
          </p:cNvPr>
          <p:cNvSpPr txBox="1"/>
          <p:nvPr/>
        </p:nvSpPr>
        <p:spPr>
          <a:xfrm>
            <a:off x="889000" y="2578100"/>
            <a:ext cx="462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新玩家：愿意尝试，但卡在理解和操作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2659C929-9676-9B55-886A-55BCB380632D}"/>
              </a:ext>
            </a:extLst>
          </p:cNvPr>
          <p:cNvSpPr txBox="1"/>
          <p:nvPr/>
        </p:nvSpPr>
        <p:spPr>
          <a:xfrm>
            <a:off x="889000" y="2933700"/>
            <a:ext cx="4622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6470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被题材和团队战吸引，进入门槛主要来自操作与信息理解。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9811B9E-98CF-631F-4E8E-64AA582CA7D3}"/>
              </a:ext>
            </a:extLst>
          </p:cNvPr>
          <p:cNvSpPr/>
          <p:nvPr/>
        </p:nvSpPr>
        <p:spPr>
          <a:xfrm>
            <a:off x="889000" y="3302000"/>
            <a:ext cx="4622800" cy="787400"/>
          </a:xfrm>
          <a:prstGeom prst="roundRect">
            <a:avLst>
              <a:gd name="adj" fmla="val 12000"/>
            </a:avLst>
          </a:prstGeom>
          <a:solidFill>
            <a:srgbClr val="EAF7F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55724EA3-4F93-C26B-E4C5-8D4634ACFA4B}"/>
              </a:ext>
            </a:extLst>
          </p:cNvPr>
          <p:cNvSpPr txBox="1"/>
          <p:nvPr/>
        </p:nvSpPr>
        <p:spPr>
          <a:xfrm>
            <a:off x="1066800" y="3429000"/>
            <a:ext cx="698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1DAE9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喜欢</a:t>
            </a:r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71CEC486-B374-05AF-313D-36C7EBF1D0CC}"/>
              </a:ext>
            </a:extLst>
          </p:cNvPr>
          <p:cNvSpPr/>
          <p:nvPr/>
        </p:nvSpPr>
        <p:spPr>
          <a:xfrm>
            <a:off x="1066800" y="3733800"/>
            <a:ext cx="139700" cy="139700"/>
          </a:xfrm>
          <a:prstGeom prst="ellipse">
            <a:avLst/>
          </a:prstGeom>
          <a:solidFill>
            <a:srgbClr val="1DA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5A18F24-895D-C219-45AA-FB9B149E7E63}"/>
              </a:ext>
            </a:extLst>
          </p:cNvPr>
          <p:cNvSpPr txBox="1"/>
          <p:nvPr/>
        </p:nvSpPr>
        <p:spPr>
          <a:xfrm>
            <a:off x="1282700" y="37211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题材氛围、角色外观</a:t>
            </a:r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BFF8146C-52B1-085D-59A1-2D67A1BB9356}"/>
              </a:ext>
            </a:extLst>
          </p:cNvPr>
          <p:cNvSpPr/>
          <p:nvPr/>
        </p:nvSpPr>
        <p:spPr>
          <a:xfrm>
            <a:off x="1066800" y="4013200"/>
            <a:ext cx="139700" cy="139700"/>
          </a:xfrm>
          <a:prstGeom prst="ellipse">
            <a:avLst/>
          </a:prstGeom>
          <a:solidFill>
            <a:srgbClr val="1DAE9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EE4E09B-8D35-7CE8-459D-F5ADB4BE2DFD}"/>
              </a:ext>
            </a:extLst>
          </p:cNvPr>
          <p:cNvSpPr txBox="1"/>
          <p:nvPr/>
        </p:nvSpPr>
        <p:spPr>
          <a:xfrm>
            <a:off x="1282700" y="40005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3v3 </a:t>
            </a:r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协作、技能动作</a:t>
            </a:r>
          </a:p>
        </p:txBody>
      </p: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E2904E8E-8F16-BBAF-BC7D-5A35F11A4910}"/>
              </a:ext>
            </a:extLst>
          </p:cNvPr>
          <p:cNvSpPr/>
          <p:nvPr/>
        </p:nvSpPr>
        <p:spPr>
          <a:xfrm>
            <a:off x="889000" y="4216400"/>
            <a:ext cx="4622800" cy="914400"/>
          </a:xfrm>
          <a:prstGeom prst="roundRect">
            <a:avLst>
              <a:gd name="adj" fmla="val 12000"/>
            </a:avLst>
          </a:prstGeom>
          <a:solidFill>
            <a:srgbClr val="FFF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F3833F2-B38E-CEDD-B087-6779E5C2F034}"/>
              </a:ext>
            </a:extLst>
          </p:cNvPr>
          <p:cNvSpPr txBox="1"/>
          <p:nvPr/>
        </p:nvSpPr>
        <p:spPr>
          <a:xfrm>
            <a:off x="1066800" y="43307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阻碍 </a:t>
            </a:r>
            <a:r>
              <a:rPr lang="en-US" altLang="zh-CN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担心</a:t>
            </a:r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5019710D-7225-945D-1FAE-6DA43236EA5B}"/>
              </a:ext>
            </a:extLst>
          </p:cNvPr>
          <p:cNvSpPr/>
          <p:nvPr/>
        </p:nvSpPr>
        <p:spPr>
          <a:xfrm>
            <a:off x="1066800" y="4622800"/>
            <a:ext cx="139700" cy="139700"/>
          </a:xfrm>
          <a:prstGeom prst="ellipse">
            <a:avLst/>
          </a:prstGeom>
          <a:solidFill>
            <a:srgbClr val="D65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EAB949F0-6485-3C8B-6F0B-34CBEFDA80F5}"/>
              </a:ext>
            </a:extLst>
          </p:cNvPr>
          <p:cNvSpPr txBox="1"/>
          <p:nvPr/>
        </p:nvSpPr>
        <p:spPr>
          <a:xfrm>
            <a:off x="1282700" y="46101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按钮小 </a:t>
            </a:r>
            <a:r>
              <a:rPr lang="en-US" altLang="zh-CN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按不顺，锁不准</a:t>
            </a: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02ED7045-FD2A-00EF-C2D0-3798CBD21A89}"/>
              </a:ext>
            </a:extLst>
          </p:cNvPr>
          <p:cNvSpPr/>
          <p:nvPr/>
        </p:nvSpPr>
        <p:spPr>
          <a:xfrm>
            <a:off x="1066800" y="4864100"/>
            <a:ext cx="139700" cy="139700"/>
          </a:xfrm>
          <a:prstGeom prst="ellipse">
            <a:avLst/>
          </a:prstGeom>
          <a:solidFill>
            <a:srgbClr val="D65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901026C1-B5A7-4C1C-9781-E75B2F58532E}"/>
              </a:ext>
            </a:extLst>
          </p:cNvPr>
          <p:cNvSpPr txBox="1"/>
          <p:nvPr/>
        </p:nvSpPr>
        <p:spPr>
          <a:xfrm>
            <a:off x="1282700" y="48514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信息看不懂，</a:t>
            </a:r>
            <a:r>
              <a:rPr lang="en-US" altLang="zh-CN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PvE </a:t>
            </a:r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目标不清</a:t>
            </a:r>
          </a:p>
        </p:txBody>
      </p: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436F2333-9D35-BBD2-D298-A6F3C86993BF}"/>
              </a:ext>
            </a:extLst>
          </p:cNvPr>
          <p:cNvSpPr/>
          <p:nvPr/>
        </p:nvSpPr>
        <p:spPr>
          <a:xfrm>
            <a:off x="6400800" y="1981200"/>
            <a:ext cx="5181600" cy="3276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ED3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2261BC59-3311-4751-9155-CA3A9595CBC7}"/>
              </a:ext>
            </a:extLst>
          </p:cNvPr>
          <p:cNvSpPr/>
          <p:nvPr/>
        </p:nvSpPr>
        <p:spPr>
          <a:xfrm>
            <a:off x="6400800" y="1981200"/>
            <a:ext cx="88900" cy="3276600"/>
          </a:xfrm>
          <a:prstGeom prst="rect">
            <a:avLst/>
          </a:prstGeom>
          <a:solidFill>
            <a:srgbClr val="E26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矩形: 圆角 86">
            <a:extLst>
              <a:ext uri="{FF2B5EF4-FFF2-40B4-BE49-F238E27FC236}">
                <a16:creationId xmlns:a16="http://schemas.microsoft.com/office/drawing/2014/main" id="{998CCE92-9386-FEFF-0BFA-4540B906B2B5}"/>
              </a:ext>
            </a:extLst>
          </p:cNvPr>
          <p:cNvSpPr/>
          <p:nvPr/>
        </p:nvSpPr>
        <p:spPr>
          <a:xfrm>
            <a:off x="6680200" y="2209800"/>
            <a:ext cx="1092200" cy="254000"/>
          </a:xfrm>
          <a:prstGeom prst="roundRect">
            <a:avLst>
              <a:gd name="adj" fmla="val 50000"/>
            </a:avLst>
          </a:prstGeom>
          <a:solidFill>
            <a:srgbClr val="E26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2B14A54F-6907-D28E-B6E9-40F2C2ED7187}"/>
              </a:ext>
            </a:extLst>
          </p:cNvPr>
          <p:cNvSpPr txBox="1"/>
          <p:nvPr/>
        </p:nvSpPr>
        <p:spPr>
          <a:xfrm>
            <a:off x="6781800" y="2260600"/>
            <a:ext cx="889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老玩家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DAE8151E-76AC-893E-C8A6-F6E4F7938B4E}"/>
              </a:ext>
            </a:extLst>
          </p:cNvPr>
          <p:cNvSpPr txBox="1"/>
          <p:nvPr/>
        </p:nvSpPr>
        <p:spPr>
          <a:xfrm>
            <a:off x="6680200" y="2578100"/>
            <a:ext cx="46228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9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老玩家：认可变化，但担心 </a:t>
            </a:r>
            <a:r>
              <a:rPr lang="en-US" altLang="zh-CN" sz="19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GnG </a:t>
            </a:r>
            <a:r>
              <a:rPr lang="zh-CN" altLang="en-US" sz="19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变浅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5FBB4FC8-D200-C740-5FDF-EF8897BD572D}"/>
              </a:ext>
            </a:extLst>
          </p:cNvPr>
          <p:cNvSpPr txBox="1"/>
          <p:nvPr/>
        </p:nvSpPr>
        <p:spPr>
          <a:xfrm>
            <a:off x="6680200" y="2933700"/>
            <a:ext cx="46228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64707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认可新增动作与反馈，但担心核心深度、压迫感和职业差异被削弱。</a:t>
            </a:r>
          </a:p>
        </p:txBody>
      </p:sp>
      <p:sp>
        <p:nvSpPr>
          <p:cNvPr id="91" name="矩形: 圆角 90">
            <a:extLst>
              <a:ext uri="{FF2B5EF4-FFF2-40B4-BE49-F238E27FC236}">
                <a16:creationId xmlns:a16="http://schemas.microsoft.com/office/drawing/2014/main" id="{D200791C-88A1-1C23-9595-2AAEB81F01A4}"/>
              </a:ext>
            </a:extLst>
          </p:cNvPr>
          <p:cNvSpPr/>
          <p:nvPr/>
        </p:nvSpPr>
        <p:spPr>
          <a:xfrm>
            <a:off x="6680200" y="3302000"/>
            <a:ext cx="4622800" cy="787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DF96075-0860-97BE-39B0-07D38518F10D}"/>
              </a:ext>
            </a:extLst>
          </p:cNvPr>
          <p:cNvSpPr txBox="1"/>
          <p:nvPr/>
        </p:nvSpPr>
        <p:spPr>
          <a:xfrm>
            <a:off x="6858000" y="3429000"/>
            <a:ext cx="698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E26A3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喜欢</a:t>
            </a: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FFFBAA4C-C514-200C-3394-DFA91F402991}"/>
              </a:ext>
            </a:extLst>
          </p:cNvPr>
          <p:cNvSpPr/>
          <p:nvPr/>
        </p:nvSpPr>
        <p:spPr>
          <a:xfrm>
            <a:off x="6858000" y="3733800"/>
            <a:ext cx="139700" cy="139700"/>
          </a:xfrm>
          <a:prstGeom prst="ellipse">
            <a:avLst/>
          </a:prstGeom>
          <a:solidFill>
            <a:srgbClr val="E26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3BBFDBB5-85EF-FE7C-5091-F56ACE6EC531}"/>
              </a:ext>
            </a:extLst>
          </p:cNvPr>
          <p:cNvSpPr txBox="1"/>
          <p:nvPr/>
        </p:nvSpPr>
        <p:spPr>
          <a:xfrm>
            <a:off x="7073900" y="37211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角色闪避、武器格挡</a:t>
            </a:r>
          </a:p>
        </p:txBody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098E38C9-8F8E-424E-C88E-6365B6FDC74E}"/>
              </a:ext>
            </a:extLst>
          </p:cNvPr>
          <p:cNvSpPr/>
          <p:nvPr/>
        </p:nvSpPr>
        <p:spPr>
          <a:xfrm>
            <a:off x="6858000" y="4013200"/>
            <a:ext cx="139700" cy="139700"/>
          </a:xfrm>
          <a:prstGeom prst="ellipse">
            <a:avLst/>
          </a:prstGeom>
          <a:solidFill>
            <a:srgbClr val="E26A3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FF9EFC7A-853E-DE78-6470-D94D9626A21C}"/>
              </a:ext>
            </a:extLst>
          </p:cNvPr>
          <p:cNvSpPr txBox="1"/>
          <p:nvPr/>
        </p:nvSpPr>
        <p:spPr>
          <a:xfrm>
            <a:off x="7073900" y="40005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职业分工、打击反馈</a:t>
            </a:r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0D7C853E-CF74-0AC7-210B-F8640FD1179F}"/>
              </a:ext>
            </a:extLst>
          </p:cNvPr>
          <p:cNvSpPr/>
          <p:nvPr/>
        </p:nvSpPr>
        <p:spPr>
          <a:xfrm>
            <a:off x="6680200" y="4216400"/>
            <a:ext cx="4622800" cy="914400"/>
          </a:xfrm>
          <a:prstGeom prst="roundRect">
            <a:avLst>
              <a:gd name="adj" fmla="val 12000"/>
            </a:avLst>
          </a:prstGeom>
          <a:solidFill>
            <a:srgbClr val="FFF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F35A6D3-5730-6933-52D8-B441281C1ED0}"/>
              </a:ext>
            </a:extLst>
          </p:cNvPr>
          <p:cNvSpPr txBox="1"/>
          <p:nvPr/>
        </p:nvSpPr>
        <p:spPr>
          <a:xfrm>
            <a:off x="6858000" y="4330700"/>
            <a:ext cx="1206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阻碍 </a:t>
            </a:r>
            <a:r>
              <a:rPr lang="en-US" altLang="zh-CN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/ </a:t>
            </a:r>
            <a:r>
              <a:rPr lang="zh-CN" altLang="en-US" sz="1150" b="1">
                <a:solidFill>
                  <a:srgbClr val="D65A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担心</a:t>
            </a:r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7D20A174-E5CB-8EE0-06D8-98B6855DF1B8}"/>
              </a:ext>
            </a:extLst>
          </p:cNvPr>
          <p:cNvSpPr/>
          <p:nvPr/>
        </p:nvSpPr>
        <p:spPr>
          <a:xfrm>
            <a:off x="6858000" y="4622800"/>
            <a:ext cx="139700" cy="139700"/>
          </a:xfrm>
          <a:prstGeom prst="ellipse">
            <a:avLst/>
          </a:prstGeom>
          <a:solidFill>
            <a:srgbClr val="D65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E408EFF2-DEEE-190B-633B-41CF7E4D84E2}"/>
              </a:ext>
            </a:extLst>
          </p:cNvPr>
          <p:cNvSpPr txBox="1"/>
          <p:nvPr/>
        </p:nvSpPr>
        <p:spPr>
          <a:xfrm>
            <a:off x="7073900" y="46101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宽镜头削弱压迫感</a:t>
            </a:r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4484F7B4-7793-8E04-4056-FB48B17C495E}"/>
              </a:ext>
            </a:extLst>
          </p:cNvPr>
          <p:cNvSpPr/>
          <p:nvPr/>
        </p:nvSpPr>
        <p:spPr>
          <a:xfrm>
            <a:off x="6858000" y="4864100"/>
            <a:ext cx="139700" cy="139700"/>
          </a:xfrm>
          <a:prstGeom prst="ellipse">
            <a:avLst/>
          </a:prstGeom>
          <a:solidFill>
            <a:srgbClr val="D65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0F079E1-8F7F-E592-6141-6B94307AA504}"/>
              </a:ext>
            </a:extLst>
          </p:cNvPr>
          <p:cNvSpPr txBox="1"/>
          <p:nvPr/>
        </p:nvSpPr>
        <p:spPr>
          <a:xfrm>
            <a:off x="7073900" y="48514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自动锁敌削弱操作</a:t>
            </a:r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1EF8D47-EC2A-7B12-1586-387D28B3E928}"/>
              </a:ext>
            </a:extLst>
          </p:cNvPr>
          <p:cNvSpPr/>
          <p:nvPr/>
        </p:nvSpPr>
        <p:spPr>
          <a:xfrm>
            <a:off x="6858000" y="5105400"/>
            <a:ext cx="139700" cy="139700"/>
          </a:xfrm>
          <a:prstGeom prst="ellipse">
            <a:avLst/>
          </a:prstGeom>
          <a:solidFill>
            <a:srgbClr val="D65A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-</a:t>
            </a:r>
            <a:endParaRPr lang="zh-CN" altLang="en-US" sz="80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777C9562-425A-5565-606B-A1DBBEC4D642}"/>
              </a:ext>
            </a:extLst>
          </p:cNvPr>
          <p:cNvSpPr txBox="1"/>
          <p:nvPr/>
        </p:nvSpPr>
        <p:spPr>
          <a:xfrm>
            <a:off x="7073900" y="5092700"/>
            <a:ext cx="4318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26313A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通用防御削弱职业差异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42934E8-A5C3-8A7D-55DA-E2EA59BBA657}"/>
              </a:ext>
            </a:extLst>
          </p:cNvPr>
          <p:cNvSpPr txBox="1"/>
          <p:nvPr/>
        </p:nvSpPr>
        <p:spPr>
          <a:xfrm>
            <a:off x="609600" y="53848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00" b="1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优先级</a:t>
            </a: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C6042B5D-19B5-515E-0A04-8DE6467A4C4E}"/>
              </a:ext>
            </a:extLst>
          </p:cNvPr>
          <p:cNvSpPr/>
          <p:nvPr/>
        </p:nvSpPr>
        <p:spPr>
          <a:xfrm>
            <a:off x="609600" y="5689600"/>
            <a:ext cx="3454400" cy="635000"/>
          </a:xfrm>
          <a:prstGeom prst="roundRect">
            <a:avLst>
              <a:gd name="adj" fmla="val 12000"/>
            </a:avLst>
          </a:prstGeom>
          <a:solidFill>
            <a:srgbClr val="EAF3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9F579E03-64E4-8751-4EDC-00EEE1A24CE8}"/>
              </a:ext>
            </a:extLst>
          </p:cNvPr>
          <p:cNvSpPr/>
          <p:nvPr/>
        </p:nvSpPr>
        <p:spPr>
          <a:xfrm>
            <a:off x="787400" y="58674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D8463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8020877F-C964-6BB4-9884-B69D12EB343B}"/>
              </a:ext>
            </a:extLst>
          </p:cNvPr>
          <p:cNvSpPr txBox="1"/>
          <p:nvPr/>
        </p:nvSpPr>
        <p:spPr>
          <a:xfrm>
            <a:off x="787400" y="5918200"/>
            <a:ext cx="571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P0</a:t>
            </a:r>
            <a:endParaRPr lang="zh-CN" altLang="en-US" sz="85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0D51454-AB19-55C5-75CC-11E8BC0478FA}"/>
              </a:ext>
            </a:extLst>
          </p:cNvPr>
          <p:cNvSpPr txBox="1"/>
          <p:nvPr/>
        </p:nvSpPr>
        <p:spPr>
          <a:xfrm>
            <a:off x="1524000" y="58166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镜头 </a:t>
            </a:r>
            <a:r>
              <a:rPr lang="en-US" altLang="zh-CN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锁敌 </a:t>
            </a:r>
            <a:r>
              <a:rPr lang="en-US" altLang="zh-CN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操作按钮 </a:t>
            </a:r>
            <a:r>
              <a:rPr lang="en-US" altLang="zh-CN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战斗信息可读性</a:t>
            </a:r>
          </a:p>
        </p:txBody>
      </p:sp>
      <p:sp>
        <p:nvSpPr>
          <p:cNvPr id="110" name="矩形: 圆角 109">
            <a:extLst>
              <a:ext uri="{FF2B5EF4-FFF2-40B4-BE49-F238E27FC236}">
                <a16:creationId xmlns:a16="http://schemas.microsoft.com/office/drawing/2014/main" id="{78376D44-696B-86EE-25AE-AA914BB49154}"/>
              </a:ext>
            </a:extLst>
          </p:cNvPr>
          <p:cNvSpPr/>
          <p:nvPr/>
        </p:nvSpPr>
        <p:spPr>
          <a:xfrm>
            <a:off x="4368800" y="5689600"/>
            <a:ext cx="3454400" cy="635000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矩形: 圆角 110">
            <a:extLst>
              <a:ext uri="{FF2B5EF4-FFF2-40B4-BE49-F238E27FC236}">
                <a16:creationId xmlns:a16="http://schemas.microsoft.com/office/drawing/2014/main" id="{341B2E75-DF6F-CEE0-42B8-021496F5E29C}"/>
              </a:ext>
            </a:extLst>
          </p:cNvPr>
          <p:cNvSpPr/>
          <p:nvPr/>
        </p:nvSpPr>
        <p:spPr>
          <a:xfrm>
            <a:off x="4546600" y="58674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E78A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78F98AFD-7BF6-A212-E18B-3B402BC26AE4}"/>
              </a:ext>
            </a:extLst>
          </p:cNvPr>
          <p:cNvSpPr txBox="1"/>
          <p:nvPr/>
        </p:nvSpPr>
        <p:spPr>
          <a:xfrm>
            <a:off x="4546600" y="5918200"/>
            <a:ext cx="571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8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P1</a:t>
            </a:r>
            <a:endParaRPr lang="zh-CN" altLang="en-US" sz="850" b="1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BC4AB402-FAB3-D5DD-2ADE-F1C9E6A61F0C}"/>
              </a:ext>
            </a:extLst>
          </p:cNvPr>
          <p:cNvSpPr txBox="1"/>
          <p:nvPr/>
        </p:nvSpPr>
        <p:spPr>
          <a:xfrm>
            <a:off x="5283200" y="58166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职业差异、武器格挡规则、远程技能瞄准、</a:t>
            </a:r>
            <a:r>
              <a:rPr lang="en-US" altLang="zh-CN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PvE </a:t>
            </a:r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引导</a:t>
            </a:r>
          </a:p>
        </p:txBody>
      </p: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0C3A24F6-48E9-8924-D7AA-F1190D57884B}"/>
              </a:ext>
            </a:extLst>
          </p:cNvPr>
          <p:cNvSpPr/>
          <p:nvPr/>
        </p:nvSpPr>
        <p:spPr>
          <a:xfrm>
            <a:off x="8128000" y="5689600"/>
            <a:ext cx="3454400" cy="635000"/>
          </a:xfrm>
          <a:prstGeom prst="roundRect">
            <a:avLst>
              <a:gd name="adj" fmla="val 12000"/>
            </a:avLst>
          </a:prstGeom>
          <a:solidFill>
            <a:srgbClr val="EEF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: 圆角 114">
            <a:extLst>
              <a:ext uri="{FF2B5EF4-FFF2-40B4-BE49-F238E27FC236}">
                <a16:creationId xmlns:a16="http://schemas.microsoft.com/office/drawing/2014/main" id="{015FF4A1-2D4E-1892-2C5D-9FC30FAE1C25}"/>
              </a:ext>
            </a:extLst>
          </p:cNvPr>
          <p:cNvSpPr/>
          <p:nvPr/>
        </p:nvSpPr>
        <p:spPr>
          <a:xfrm>
            <a:off x="8305800" y="5867400"/>
            <a:ext cx="571500" cy="279400"/>
          </a:xfrm>
          <a:prstGeom prst="roundRect">
            <a:avLst>
              <a:gd name="adj" fmla="val 50000"/>
            </a:avLst>
          </a:prstGeom>
          <a:solidFill>
            <a:srgbClr val="209A6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4DDEE7DE-F201-46FF-C356-02182B84284D}"/>
              </a:ext>
            </a:extLst>
          </p:cNvPr>
          <p:cNvSpPr txBox="1"/>
          <p:nvPr/>
        </p:nvSpPr>
        <p:spPr>
          <a:xfrm>
            <a:off x="8305800" y="5918200"/>
            <a:ext cx="5715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850" b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验证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9BF5B8D8-BE5B-C052-4AF4-9F86EE1DFDA0}"/>
              </a:ext>
            </a:extLst>
          </p:cNvPr>
          <p:cNvSpPr txBox="1"/>
          <p:nvPr/>
        </p:nvSpPr>
        <p:spPr>
          <a:xfrm>
            <a:off x="9042400" y="5816600"/>
            <a:ext cx="23368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>
                <a:solidFill>
                  <a:srgbClr val="1E252C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内部大赛验证搜打撤闭环，再找老玩家复测</a:t>
            </a:r>
          </a:p>
        </p:txBody>
      </p:sp>
    </p:spTree>
    <p:extLst>
      <p:ext uri="{BB962C8B-B14F-4D97-AF65-F5344CB8AC3E}">
        <p14:creationId xmlns:p14="http://schemas.microsoft.com/office/powerpoint/2010/main" val="2918776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</Words>
  <Application>Microsoft Office PowerPoint</Application>
  <PresentationFormat>宽屏</PresentationFormat>
  <Paragraphs>55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Microsoft YaHei UI</vt:lpstr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 chenchen</dc:creator>
  <cp:lastModifiedBy>Zhang chenchen</cp:lastModifiedBy>
  <cp:revision>4</cp:revision>
  <dcterms:created xsi:type="dcterms:W3CDTF">2026-05-12T13:32:47Z</dcterms:created>
  <dcterms:modified xsi:type="dcterms:W3CDTF">2026-05-12T13:43:13Z</dcterms:modified>
</cp:coreProperties>
</file>