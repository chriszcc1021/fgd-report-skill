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2984-F2BC-8946-EA06-28F3E82A1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2D2188-A25B-327F-C572-2491A7369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FE8830-139D-7A8E-FA2D-183A2D91F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6769E-FE53-4438-9542-45215B652C74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20C0D1-0B3E-CBB4-CF78-C1517E263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C44781-E1D6-BA49-3096-791881CA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6585B-4487-43D7-B1A3-1D302E9C2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067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3676D4-F24E-8EC0-E2FE-B626000D5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93E954-6559-BF7F-CCC3-0BC920AAA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A682B-C453-8CD9-C0BE-1F41FEE6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6769E-FE53-4438-9542-45215B652C74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14B7BC-6252-7E13-136F-7F4FA306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0DEECB-C5C8-E0A4-1931-EBAFC057B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6585B-4487-43D7-B1A3-1D302E9C2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47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8B0EE-C37F-9939-290B-B92E2999F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E0A0E2-51DA-EDE1-CFEC-0D999E3BE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B7B1CD-94D1-C756-864F-69705815B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6769E-FE53-4438-9542-45215B652C74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142C79-234E-F14F-7951-146BD85F7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FCEC6D-19B9-7ABF-54BD-19E51E7D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6585B-4487-43D7-B1A3-1D302E9C2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644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ABFD0F-3A3C-65F4-78DB-B66BBBB6B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66E0BC-6CFE-A343-788A-BAC329CAB9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1F2637-3F48-7A0C-3B9B-892F0F3F9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89F87D-070F-D3D4-26E2-451219896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6769E-FE53-4438-9542-45215B652C74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9D52B2-B1EF-BA39-2FF4-5BC1C147A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3E76B0-8F15-4E44-9A6F-1AFACA49D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6585B-4487-43D7-B1A3-1D302E9C2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15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3C8E41-0CA7-81E3-23A6-2F2210C55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007D70-B01F-9995-C568-681FEA3E1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822870-B311-8C97-E352-28DE70137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B842D4-1B56-7FDE-5C07-7EA3BAC971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AB034DA-9A76-707E-F254-769CFFDFB1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5457FFF-5D8B-FCE3-7F76-DED345856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6769E-FE53-4438-9542-45215B652C74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58F2A3-5946-314A-7B1C-38EF1FE08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37FE40-F4C4-432C-B0C0-1E27B8B12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6585B-4487-43D7-B1A3-1D302E9C2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94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2E007-B10F-C63E-7401-067EA771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C04B5E-C462-4C7A-E2AF-F64FB4197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6769E-FE53-4438-9542-45215B652C74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D58A74-D7D1-BF34-D440-984C7565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868A64-0C02-0EC8-D799-F076AAD0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6585B-4487-43D7-B1A3-1D302E9C2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241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B67B07-64B6-99DB-C2D4-F7FA87032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6769E-FE53-4438-9542-45215B652C74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2F87D3-AC5A-29C6-FFA7-C8C582403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F75050-8162-8C7C-887F-8612A9776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6585B-4487-43D7-B1A3-1D302E9C2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70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D8B50-0072-9621-FB77-F8A42CA8A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A40E93-D8CC-36B9-6A7C-8B9540A04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2FE590-D34B-2358-13AA-89EB5E8F8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11CB69-2753-5217-87E9-23E159C87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6769E-FE53-4438-9542-45215B652C74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FA5DD1-DE48-4FDA-B80C-2E3882A34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99E491-8C7C-D8CB-E930-842EA4F5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6585B-4487-43D7-B1A3-1D302E9C2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750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3BBD6F-8129-5FE5-DA45-50DBE7F1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899B809-B324-DD78-4965-9F5465247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CA6D77-F397-3C2E-431C-B2B014809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F48A08-6ED2-425B-D5AF-C2A05E255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6769E-FE53-4438-9542-45215B652C74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3BD69D-E34A-8F4E-A220-51E0F7588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58E994-B1C5-6D75-9004-9FB621F1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6585B-4487-43D7-B1A3-1D302E9C2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525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2AB24-C24D-BD23-5333-1E4C9F6D1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E31E64-157A-AA6A-EF8A-D1948AAFD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C1A24E-23AA-34DA-4BBD-D5F6EBEC1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6769E-FE53-4438-9542-45215B652C74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9F6ECC-640F-7149-0519-EA54F9AAE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9E3081-7509-CBCF-F954-5A03733B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6585B-4487-43D7-B1A3-1D302E9C2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310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8563079-EA61-6428-92C6-4A1AEEE87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30806A-D7AE-2EEE-8078-3CCBA2D1B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7286F6-936D-9CBE-B68B-C4FA9264B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6769E-FE53-4438-9542-45215B652C74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E5F543-B41B-7558-56CE-BE3E8BB4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D11172-3FFE-7F64-B4DC-8F78302FA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6585B-4487-43D7-B1A3-1D302E9C2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152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2C73152-248E-0B47-DD69-6AE7637F1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3295B3-C0E5-4DAB-5FDB-EFC0E1EF8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5DF606-1B66-6E05-2605-E8CDCFD95C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06769E-FE53-4438-9542-45215B652C74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EC8ACD-206C-8C37-5B5C-7B1C826C3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7A5EFE-FF62-3D4C-9E54-A178E4594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A6585B-4487-43D7-B1A3-1D302E9C2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689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6A5EF3E-E4FE-F097-547E-BFE791617B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989A29-2E27-B920-97E2-B945DD04DBC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D04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7F52A7-D360-69FC-D590-A3E748E2B825}"/>
              </a:ext>
            </a:extLst>
          </p:cNvPr>
          <p:cNvSpPr/>
          <p:nvPr/>
        </p:nvSpPr>
        <p:spPr>
          <a:xfrm>
            <a:off x="8636000" y="0"/>
            <a:ext cx="3556000" cy="76200"/>
          </a:xfrm>
          <a:prstGeom prst="rect">
            <a:avLst/>
          </a:prstGeom>
          <a:solidFill>
            <a:srgbClr val="D69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CC7729-FA5F-4F5E-2671-4FA31A78A2D0}"/>
              </a:ext>
            </a:extLst>
          </p:cNvPr>
          <p:cNvSpPr txBox="1"/>
          <p:nvPr/>
        </p:nvSpPr>
        <p:spPr>
          <a:xfrm>
            <a:off x="533400" y="3302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00" b="1">
                <a:solidFill>
                  <a:srgbClr val="D04C46"/>
                </a:solidFill>
                <a:latin typeface="Microsoft YaHei UI" panose="020B0503020204020204" pitchFamily="34" charset="-122"/>
              </a:rPr>
              <a:t>MX / VN / ID PLAYER FGD</a:t>
            </a:r>
            <a:endParaRPr lang="zh-CN" altLang="en-US" sz="900" b="1">
              <a:solidFill>
                <a:srgbClr val="D04C46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DEF098-90E0-0547-EF3E-2F75FE8E9553}"/>
              </a:ext>
            </a:extLst>
          </p:cNvPr>
          <p:cNvSpPr txBox="1"/>
          <p:nvPr/>
        </p:nvSpPr>
        <p:spPr>
          <a:xfrm>
            <a:off x="533400" y="6096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F2EBDE"/>
                </a:solidFill>
                <a:latin typeface="Microsoft YaHei UI" panose="020B0503020204020204" pitchFamily="34" charset="-122"/>
              </a:rPr>
              <a:t>全区 </a:t>
            </a:r>
            <a:r>
              <a:rPr lang="en-US" altLang="zh-CN" sz="2800" b="1">
                <a:solidFill>
                  <a:srgbClr val="F2EBDE"/>
                </a:solidFill>
                <a:latin typeface="Microsoft YaHei UI" panose="020B0503020204020204" pitchFamily="34" charset="-122"/>
              </a:rPr>
              <a:t>FGD </a:t>
            </a:r>
            <a:r>
              <a:rPr lang="zh-CN" altLang="en-US" sz="2800" b="1">
                <a:solidFill>
                  <a:srgbClr val="F2EBDE"/>
                </a:solidFill>
                <a:latin typeface="Microsoft YaHei UI" panose="020B0503020204020204" pitchFamily="34" charset="-122"/>
              </a:rPr>
              <a:t>表现总结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1FD984-E9DE-8A4E-1B75-82A9333D2D8A}"/>
              </a:ext>
            </a:extLst>
          </p:cNvPr>
          <p:cNvSpPr txBox="1"/>
          <p:nvPr/>
        </p:nvSpPr>
        <p:spPr>
          <a:xfrm>
            <a:off x="558800" y="1117600"/>
            <a:ext cx="8763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DDD6CB"/>
                </a:solidFill>
                <a:latin typeface="Microsoft YaHei UI" panose="020B0503020204020204" pitchFamily="34" charset="-122"/>
              </a:rPr>
              <a:t>新 </a:t>
            </a:r>
            <a:r>
              <a:rPr lang="en-US" altLang="zh-CN" sz="1400">
                <a:solidFill>
                  <a:srgbClr val="DDD6CB"/>
                </a:solidFill>
                <a:latin typeface="Microsoft YaHei UI" panose="020B0503020204020204" pitchFamily="34" charset="-122"/>
              </a:rPr>
              <a:t>3C </a:t>
            </a:r>
            <a:r>
              <a:rPr lang="zh-CN" altLang="en-US" sz="1400">
                <a:solidFill>
                  <a:srgbClr val="DDD6CB"/>
                </a:solidFill>
                <a:latin typeface="Microsoft YaHei UI" panose="020B0503020204020204" pitchFamily="34" charset="-122"/>
              </a:rPr>
              <a:t>有吸引力，但搜打撤闭环与老玩家核心感受仍需验证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0B4D81D-5947-FE6F-DD4D-55A0BBAF4BED}"/>
              </a:ext>
            </a:extLst>
          </p:cNvPr>
          <p:cNvSpPr/>
          <p:nvPr/>
        </p:nvSpPr>
        <p:spPr>
          <a:xfrm>
            <a:off x="9880600" y="533400"/>
            <a:ext cx="838200" cy="330200"/>
          </a:xfrm>
          <a:prstGeom prst="roundRect">
            <a:avLst>
              <a:gd name="adj" fmla="val 50000"/>
            </a:avLst>
          </a:prstGeom>
          <a:solidFill>
            <a:srgbClr val="371F1E"/>
          </a:solidFill>
          <a:ln w="12700" cap="flat" cmpd="sng" algn="ctr">
            <a:solidFill>
              <a:srgbClr val="923D39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Ins="127000" bIns="25400" rtlCol="0" anchor="ctr"/>
          <a:lstStyle/>
          <a:p>
            <a:pPr algn="ctr"/>
            <a:r>
              <a:rPr lang="en-US" altLang="zh-CN" sz="1000" b="1">
                <a:solidFill>
                  <a:srgbClr val="D04C46"/>
                </a:solidFill>
                <a:latin typeface="Microsoft YaHei UI" panose="020B0503020204020204" pitchFamily="34" charset="-122"/>
              </a:rPr>
              <a:t>P0</a:t>
            </a:r>
            <a:r>
              <a:rPr lang="zh-CN" altLang="en-US" sz="1000" b="1">
                <a:solidFill>
                  <a:srgbClr val="D04C46"/>
                </a:solidFill>
                <a:latin typeface="Microsoft YaHei UI" panose="020B0503020204020204" pitchFamily="34" charset="-122"/>
              </a:rPr>
              <a:t>优先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FC4BB38-FA33-8831-990E-AEC7BD5438E1}"/>
              </a:ext>
            </a:extLst>
          </p:cNvPr>
          <p:cNvSpPr/>
          <p:nvPr/>
        </p:nvSpPr>
        <p:spPr>
          <a:xfrm>
            <a:off x="10820400" y="533400"/>
            <a:ext cx="838200" cy="330200"/>
          </a:xfrm>
          <a:prstGeom prst="roundRect">
            <a:avLst>
              <a:gd name="adj" fmla="val 50000"/>
            </a:avLst>
          </a:prstGeom>
          <a:solidFill>
            <a:srgbClr val="30271B"/>
          </a:solidFill>
          <a:ln w="12700" cap="flat" cmpd="sng" algn="ctr">
            <a:solidFill>
              <a:srgbClr val="976F34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Ins="127000" bIns="25400" rtlCol="0" anchor="ctr"/>
          <a:lstStyle/>
          <a:p>
            <a:pPr algn="ctr"/>
            <a:r>
              <a:rPr lang="en-US" altLang="zh-CN" sz="1000" b="1">
                <a:solidFill>
                  <a:srgbClr val="D69E4D"/>
                </a:solidFill>
                <a:latin typeface="Microsoft YaHei UI" panose="020B0503020204020204" pitchFamily="34" charset="-122"/>
              </a:rPr>
              <a:t>5/15</a:t>
            </a:r>
            <a:r>
              <a:rPr lang="zh-CN" altLang="en-US" sz="1000" b="1">
                <a:solidFill>
                  <a:srgbClr val="D69E4D"/>
                </a:solidFill>
                <a:latin typeface="Microsoft YaHei UI" panose="020B0503020204020204" pitchFamily="34" charset="-122"/>
              </a:rPr>
              <a:t>确认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324345E-8833-FE53-766B-D11B962B9AE4}"/>
              </a:ext>
            </a:extLst>
          </p:cNvPr>
          <p:cNvSpPr/>
          <p:nvPr/>
        </p:nvSpPr>
        <p:spPr>
          <a:xfrm>
            <a:off x="533400" y="1536700"/>
            <a:ext cx="11125200" cy="609600"/>
          </a:xfrm>
          <a:prstGeom prst="roundRect">
            <a:avLst/>
          </a:prstGeom>
          <a:solidFill>
            <a:srgbClr val="191917"/>
          </a:solidFill>
          <a:ln w="12700" cap="flat" cmpd="sng" algn="ctr">
            <a:solidFill>
              <a:srgbClr val="48433C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127000" rIns="228600" bIns="101600" rtlCol="0" anchor="ctr"/>
          <a:lstStyle/>
          <a:p>
            <a:pPr algn="ctr"/>
            <a:r>
              <a:rPr lang="zh-CN" altLang="en-US" b="1">
                <a:solidFill>
                  <a:srgbClr val="F2EBDE"/>
                </a:solidFill>
                <a:latin typeface="Microsoft YaHei UI" panose="020B0503020204020204" pitchFamily="34" charset="-122"/>
              </a:rPr>
              <a:t>一句话：新玩家想进来，老玩家怕失去 </a:t>
            </a:r>
            <a:r>
              <a:rPr lang="en-US" altLang="zh-CN" b="1">
                <a:solidFill>
                  <a:srgbClr val="F2EBDE"/>
                </a:solidFill>
                <a:latin typeface="Microsoft YaHei UI" panose="020B0503020204020204" pitchFamily="34" charset="-122"/>
              </a:rPr>
              <a:t>GnG </a:t>
            </a:r>
            <a:r>
              <a:rPr lang="zh-CN" altLang="en-US" b="1">
                <a:solidFill>
                  <a:srgbClr val="F2EBDE"/>
                </a:solidFill>
                <a:latin typeface="Microsoft YaHei UI" panose="020B0503020204020204" pitchFamily="34" charset="-122"/>
              </a:rPr>
              <a:t>味道。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8864D75-2289-4905-5185-DCFB7AE9A6E0}"/>
              </a:ext>
            </a:extLst>
          </p:cNvPr>
          <p:cNvSpPr/>
          <p:nvPr/>
        </p:nvSpPr>
        <p:spPr>
          <a:xfrm>
            <a:off x="533400" y="2387600"/>
            <a:ext cx="5334000" cy="2628900"/>
          </a:xfrm>
          <a:prstGeom prst="roundRect">
            <a:avLst/>
          </a:prstGeom>
          <a:solidFill>
            <a:srgbClr val="1E1F1D"/>
          </a:solidFill>
          <a:ln w="12700" cap="flat" cmpd="sng" algn="ctr">
            <a:solidFill>
              <a:srgbClr val="4E554E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66E6FF5-B735-D268-91F7-2CB0F496EF84}"/>
              </a:ext>
            </a:extLst>
          </p:cNvPr>
          <p:cNvSpPr/>
          <p:nvPr/>
        </p:nvSpPr>
        <p:spPr>
          <a:xfrm>
            <a:off x="6324600" y="2387600"/>
            <a:ext cx="5334000" cy="2628900"/>
          </a:xfrm>
          <a:prstGeom prst="roundRect">
            <a:avLst/>
          </a:prstGeom>
          <a:solidFill>
            <a:srgbClr val="24221F"/>
          </a:solidFill>
          <a:ln w="12700" cap="flat" cmpd="sng" algn="ctr">
            <a:solidFill>
              <a:srgbClr val="564B42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3A6DBEB-14D5-60B8-DA71-726ADDF3FB29}"/>
              </a:ext>
            </a:extLst>
          </p:cNvPr>
          <p:cNvSpPr/>
          <p:nvPr/>
        </p:nvSpPr>
        <p:spPr>
          <a:xfrm>
            <a:off x="787400" y="2628900"/>
            <a:ext cx="990600" cy="304800"/>
          </a:xfrm>
          <a:prstGeom prst="roundRect">
            <a:avLst>
              <a:gd name="adj" fmla="val 50000"/>
            </a:avLst>
          </a:prstGeom>
          <a:solidFill>
            <a:srgbClr val="1B3028"/>
          </a:solidFill>
          <a:ln w="12700" cap="flat" cmpd="sng" algn="ctr">
            <a:solidFill>
              <a:srgbClr val="3F8A5D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Ins="127000" bIns="25400" rtlCol="0" anchor="ctr"/>
          <a:lstStyle/>
          <a:p>
            <a:pPr algn="ctr"/>
            <a:r>
              <a:rPr lang="zh-CN" altLang="en-US" sz="1000" b="1">
                <a:solidFill>
                  <a:srgbClr val="58B880"/>
                </a:solidFill>
                <a:latin typeface="Microsoft YaHei UI" panose="020B0503020204020204" pitchFamily="34" charset="-122"/>
              </a:rPr>
              <a:t>新玩家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F2B67EE-CFAA-3B06-0652-550FF78CCD4B}"/>
              </a:ext>
            </a:extLst>
          </p:cNvPr>
          <p:cNvSpPr txBox="1"/>
          <p:nvPr/>
        </p:nvSpPr>
        <p:spPr>
          <a:xfrm>
            <a:off x="1955800" y="2628900"/>
            <a:ext cx="330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F2EBDE"/>
                </a:solidFill>
                <a:latin typeface="Microsoft YaHei UI" panose="020B0503020204020204" pitchFamily="34" charset="-122"/>
              </a:rPr>
              <a:t>愿意尝试，但卡在理解和操作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27237A4-F51D-DA6A-68F6-FD09957AB921}"/>
              </a:ext>
            </a:extLst>
          </p:cNvPr>
          <p:cNvSpPr/>
          <p:nvPr/>
        </p:nvSpPr>
        <p:spPr>
          <a:xfrm>
            <a:off x="6578600" y="2628900"/>
            <a:ext cx="1092200" cy="304800"/>
          </a:xfrm>
          <a:prstGeom prst="roundRect">
            <a:avLst>
              <a:gd name="adj" fmla="val 50000"/>
            </a:avLst>
          </a:prstGeom>
          <a:solidFill>
            <a:srgbClr val="37251D"/>
          </a:solidFill>
          <a:ln w="12700" cap="flat" cmpd="sng" algn="ctr">
            <a:solidFill>
              <a:srgbClr val="A75D36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Ins="127000" bIns="25400" rtlCol="0" anchor="ctr"/>
          <a:lstStyle/>
          <a:p>
            <a:pPr algn="ctr"/>
            <a:r>
              <a:rPr lang="zh-CN" altLang="en-US" sz="1000" b="1">
                <a:solidFill>
                  <a:srgbClr val="E68947"/>
                </a:solidFill>
                <a:latin typeface="Microsoft YaHei UI" panose="020B0503020204020204" pitchFamily="34" charset="-122"/>
              </a:rPr>
              <a:t>老玩家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90A8D9E-CCA1-61A0-0852-B470F3276B81}"/>
              </a:ext>
            </a:extLst>
          </p:cNvPr>
          <p:cNvSpPr txBox="1"/>
          <p:nvPr/>
        </p:nvSpPr>
        <p:spPr>
          <a:xfrm>
            <a:off x="7848600" y="2628900"/>
            <a:ext cx="330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F2EBDE"/>
                </a:solidFill>
                <a:latin typeface="Microsoft YaHei UI" panose="020B0503020204020204" pitchFamily="34" charset="-122"/>
              </a:rPr>
              <a:t>认可变化，但担心核心体验变浅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107F8A6-188D-ADFF-29BB-451F79025C60}"/>
              </a:ext>
            </a:extLst>
          </p:cNvPr>
          <p:cNvSpPr/>
          <p:nvPr/>
        </p:nvSpPr>
        <p:spPr>
          <a:xfrm>
            <a:off x="838200" y="3213100"/>
            <a:ext cx="76200" cy="76200"/>
          </a:xfrm>
          <a:prstGeom prst="ellipse">
            <a:avLst/>
          </a:prstGeom>
          <a:solidFill>
            <a:srgbClr val="58B8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90C219-9E68-5CE6-DE9D-06ACB469D216}"/>
              </a:ext>
            </a:extLst>
          </p:cNvPr>
          <p:cNvSpPr txBox="1"/>
          <p:nvPr/>
        </p:nvSpPr>
        <p:spPr>
          <a:xfrm>
            <a:off x="1016000" y="3162300"/>
            <a:ext cx="419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58B880"/>
                </a:solidFill>
                <a:latin typeface="Microsoft YaHei UI" panose="020B0503020204020204" pitchFamily="34" charset="-122"/>
              </a:rPr>
              <a:t>喜欢：</a:t>
            </a:r>
            <a:r>
              <a:rPr lang="zh-CN" altLang="en-US" sz="1100">
                <a:solidFill>
                  <a:srgbClr val="D6D1C9"/>
                </a:solidFill>
                <a:latin typeface="Microsoft YaHei UI" panose="020B0503020204020204" pitchFamily="34" charset="-122"/>
              </a:rPr>
              <a:t>题材氛围、角色外观、</a:t>
            </a:r>
            <a:r>
              <a:rPr lang="en-US" altLang="zh-CN" sz="1100">
                <a:solidFill>
                  <a:srgbClr val="D6D1C9"/>
                </a:solidFill>
                <a:latin typeface="Microsoft YaHei UI" panose="020B0503020204020204" pitchFamily="34" charset="-122"/>
              </a:rPr>
              <a:t>3v3 </a:t>
            </a:r>
            <a:r>
              <a:rPr lang="zh-CN" altLang="en-US" sz="1100">
                <a:solidFill>
                  <a:srgbClr val="D6D1C9"/>
                </a:solidFill>
                <a:latin typeface="Microsoft YaHei UI" panose="020B0503020204020204" pitchFamily="34" charset="-122"/>
              </a:rPr>
              <a:t>协作、技能动作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1AC006C-73B4-BDB0-88E7-D69618EC9434}"/>
              </a:ext>
            </a:extLst>
          </p:cNvPr>
          <p:cNvSpPr/>
          <p:nvPr/>
        </p:nvSpPr>
        <p:spPr>
          <a:xfrm>
            <a:off x="838200" y="3632200"/>
            <a:ext cx="76200" cy="76200"/>
          </a:xfrm>
          <a:prstGeom prst="ellipse">
            <a:avLst/>
          </a:prstGeom>
          <a:solidFill>
            <a:srgbClr val="D69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B74474D-1F47-2B6F-8B7F-976B61D90F6F}"/>
              </a:ext>
            </a:extLst>
          </p:cNvPr>
          <p:cNvSpPr txBox="1"/>
          <p:nvPr/>
        </p:nvSpPr>
        <p:spPr>
          <a:xfrm>
            <a:off x="1016000" y="3581400"/>
            <a:ext cx="419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D69E4D"/>
                </a:solidFill>
                <a:latin typeface="Microsoft YaHei UI" panose="020B0503020204020204" pitchFamily="34" charset="-122"/>
              </a:rPr>
              <a:t>阻碍：</a:t>
            </a:r>
            <a:r>
              <a:rPr lang="zh-CN" altLang="en-US" sz="1100">
                <a:solidFill>
                  <a:srgbClr val="D6D1C9"/>
                </a:solidFill>
                <a:latin typeface="Microsoft YaHei UI" panose="020B0503020204020204" pitchFamily="34" charset="-122"/>
              </a:rPr>
              <a:t>按钮小 </a:t>
            </a:r>
            <a:r>
              <a:rPr lang="en-US" altLang="zh-CN" sz="1100">
                <a:solidFill>
                  <a:srgbClr val="D6D1C9"/>
                </a:solidFill>
                <a:latin typeface="Microsoft YaHei UI" panose="020B0503020204020204" pitchFamily="34" charset="-122"/>
              </a:rPr>
              <a:t>/ </a:t>
            </a:r>
            <a:r>
              <a:rPr lang="zh-CN" altLang="en-US" sz="1100">
                <a:solidFill>
                  <a:srgbClr val="D6D1C9"/>
                </a:solidFill>
                <a:latin typeface="Microsoft YaHei UI" panose="020B0503020204020204" pitchFamily="34" charset="-122"/>
              </a:rPr>
              <a:t>按不顺、锁不准、信息看不懂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F061572A-C026-F027-ECD6-F0ABB7F139AD}"/>
              </a:ext>
            </a:extLst>
          </p:cNvPr>
          <p:cNvSpPr/>
          <p:nvPr/>
        </p:nvSpPr>
        <p:spPr>
          <a:xfrm>
            <a:off x="838200" y="4051300"/>
            <a:ext cx="76200" cy="76200"/>
          </a:xfrm>
          <a:prstGeom prst="ellipse">
            <a:avLst/>
          </a:prstGeom>
          <a:solidFill>
            <a:srgbClr val="5F9ED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BBAF4AD-F77C-54A6-FA8E-4B383F53371D}"/>
              </a:ext>
            </a:extLst>
          </p:cNvPr>
          <p:cNvSpPr txBox="1"/>
          <p:nvPr/>
        </p:nvSpPr>
        <p:spPr>
          <a:xfrm>
            <a:off x="1016000" y="4000500"/>
            <a:ext cx="419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5F9EDB"/>
                </a:solidFill>
                <a:latin typeface="Microsoft YaHei UI" panose="020B0503020204020204" pitchFamily="34" charset="-122"/>
              </a:rPr>
              <a:t>PvE</a:t>
            </a:r>
            <a:r>
              <a:rPr lang="zh-CN" altLang="en-US" sz="1100" b="1">
                <a:solidFill>
                  <a:srgbClr val="5F9EDB"/>
                </a:solidFill>
                <a:latin typeface="Microsoft YaHei UI" panose="020B0503020204020204" pitchFamily="34" charset="-122"/>
              </a:rPr>
              <a:t>：</a:t>
            </a:r>
            <a:r>
              <a:rPr lang="zh-CN" altLang="en-US" sz="1100">
                <a:solidFill>
                  <a:srgbClr val="D6D1C9"/>
                </a:solidFill>
                <a:latin typeface="Microsoft YaHei UI" panose="020B0503020204020204" pitchFamily="34" charset="-122"/>
              </a:rPr>
              <a:t>目标、路线、失败原因不清，容易玩不懂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08BA1E5E-CC34-4203-465E-50E50D27260A}"/>
              </a:ext>
            </a:extLst>
          </p:cNvPr>
          <p:cNvSpPr/>
          <p:nvPr/>
        </p:nvSpPr>
        <p:spPr>
          <a:xfrm>
            <a:off x="838200" y="4470400"/>
            <a:ext cx="76200" cy="76200"/>
          </a:xfrm>
          <a:prstGeom prst="ellipse">
            <a:avLst/>
          </a:prstGeom>
          <a:solidFill>
            <a:srgbClr val="58B8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2B2DF27-EBE6-1633-B934-E3681ADD3501}"/>
              </a:ext>
            </a:extLst>
          </p:cNvPr>
          <p:cNvSpPr txBox="1"/>
          <p:nvPr/>
        </p:nvSpPr>
        <p:spPr>
          <a:xfrm>
            <a:off x="1016000" y="4419600"/>
            <a:ext cx="419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58B880"/>
                </a:solidFill>
                <a:latin typeface="Microsoft YaHei UI" panose="020B0503020204020204" pitchFamily="34" charset="-122"/>
              </a:rPr>
              <a:t>机会：</a:t>
            </a:r>
            <a:r>
              <a:rPr lang="zh-CN" altLang="en-US" sz="1100">
                <a:solidFill>
                  <a:srgbClr val="D6D1C9"/>
                </a:solidFill>
                <a:latin typeface="Microsoft YaHei UI" panose="020B0503020204020204" pitchFamily="34" charset="-122"/>
              </a:rPr>
              <a:t>先降低理解成本，再放大组队和职业爽点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2B00096E-961C-6C7E-E40A-C9A661603087}"/>
              </a:ext>
            </a:extLst>
          </p:cNvPr>
          <p:cNvSpPr/>
          <p:nvPr/>
        </p:nvSpPr>
        <p:spPr>
          <a:xfrm>
            <a:off x="6629400" y="3213100"/>
            <a:ext cx="76200" cy="76200"/>
          </a:xfrm>
          <a:prstGeom prst="ellipse">
            <a:avLst/>
          </a:prstGeom>
          <a:solidFill>
            <a:srgbClr val="58B8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5BC75F2-BC73-B6A8-27F3-9F1004752A51}"/>
              </a:ext>
            </a:extLst>
          </p:cNvPr>
          <p:cNvSpPr txBox="1"/>
          <p:nvPr/>
        </p:nvSpPr>
        <p:spPr>
          <a:xfrm>
            <a:off x="6807200" y="3162300"/>
            <a:ext cx="419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58B880"/>
                </a:solidFill>
                <a:latin typeface="Microsoft YaHei UI" panose="020B0503020204020204" pitchFamily="34" charset="-122"/>
              </a:rPr>
              <a:t>喜欢：</a:t>
            </a:r>
            <a:r>
              <a:rPr lang="zh-CN" altLang="en-US" sz="1100">
                <a:solidFill>
                  <a:srgbClr val="D6D1C9"/>
                </a:solidFill>
                <a:latin typeface="Microsoft YaHei UI" panose="020B0503020204020204" pitchFamily="34" charset="-122"/>
              </a:rPr>
              <a:t>角色闪避、武器格挡、职业分工、打击反馈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2EE01E8C-1A55-2378-6982-CEC70E119B8F}"/>
              </a:ext>
            </a:extLst>
          </p:cNvPr>
          <p:cNvSpPr/>
          <p:nvPr/>
        </p:nvSpPr>
        <p:spPr>
          <a:xfrm>
            <a:off x="6629400" y="3632200"/>
            <a:ext cx="76200" cy="76200"/>
          </a:xfrm>
          <a:prstGeom prst="ellipse">
            <a:avLst/>
          </a:prstGeom>
          <a:solidFill>
            <a:srgbClr val="E689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2EC34AB-A5A6-8390-153E-E7AE10294A36}"/>
              </a:ext>
            </a:extLst>
          </p:cNvPr>
          <p:cNvSpPr txBox="1"/>
          <p:nvPr/>
        </p:nvSpPr>
        <p:spPr>
          <a:xfrm>
            <a:off x="6807200" y="3581400"/>
            <a:ext cx="419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E68947"/>
                </a:solidFill>
                <a:latin typeface="Microsoft YaHei UI" panose="020B0503020204020204" pitchFamily="34" charset="-122"/>
              </a:rPr>
              <a:t>担心：</a:t>
            </a:r>
            <a:r>
              <a:rPr lang="zh-CN" altLang="en-US" sz="1100">
                <a:solidFill>
                  <a:srgbClr val="D6D1C9"/>
                </a:solidFill>
                <a:latin typeface="Microsoft YaHei UI" panose="020B0503020204020204" pitchFamily="34" charset="-122"/>
              </a:rPr>
              <a:t>宽镜头削弱压迫感，自动锁敌削弱操作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7AC43C6D-7AB5-FB88-2923-93EFC958C4BE}"/>
              </a:ext>
            </a:extLst>
          </p:cNvPr>
          <p:cNvSpPr/>
          <p:nvPr/>
        </p:nvSpPr>
        <p:spPr>
          <a:xfrm>
            <a:off x="6629400" y="4051300"/>
            <a:ext cx="76200" cy="76200"/>
          </a:xfrm>
          <a:prstGeom prst="ellipse">
            <a:avLst/>
          </a:prstGeom>
          <a:solidFill>
            <a:srgbClr val="D04C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4A5CC02-9C6B-75CF-17D8-608A998B3E3C}"/>
              </a:ext>
            </a:extLst>
          </p:cNvPr>
          <p:cNvSpPr txBox="1"/>
          <p:nvPr/>
        </p:nvSpPr>
        <p:spPr>
          <a:xfrm>
            <a:off x="6807200" y="4000500"/>
            <a:ext cx="419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D04C46"/>
                </a:solidFill>
                <a:latin typeface="Microsoft YaHei UI" panose="020B0503020204020204" pitchFamily="34" charset="-122"/>
              </a:rPr>
              <a:t>风险：</a:t>
            </a:r>
            <a:r>
              <a:rPr lang="zh-CN" altLang="en-US" sz="1100">
                <a:solidFill>
                  <a:srgbClr val="D6D1C9"/>
                </a:solidFill>
                <a:latin typeface="Microsoft YaHei UI" panose="020B0503020204020204" pitchFamily="34" charset="-122"/>
              </a:rPr>
              <a:t>通用防御削弱职业差异，远程职业过安全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79183E0-0088-A042-F0A5-54D89977D906}"/>
              </a:ext>
            </a:extLst>
          </p:cNvPr>
          <p:cNvSpPr/>
          <p:nvPr/>
        </p:nvSpPr>
        <p:spPr>
          <a:xfrm>
            <a:off x="6629400" y="4470400"/>
            <a:ext cx="76200" cy="76200"/>
          </a:xfrm>
          <a:prstGeom prst="ellipse">
            <a:avLst/>
          </a:prstGeom>
          <a:solidFill>
            <a:srgbClr val="5F9ED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1CC360C-DB33-9BD9-105D-499D59D90D30}"/>
              </a:ext>
            </a:extLst>
          </p:cNvPr>
          <p:cNvSpPr txBox="1"/>
          <p:nvPr/>
        </p:nvSpPr>
        <p:spPr>
          <a:xfrm>
            <a:off x="6807200" y="4419600"/>
            <a:ext cx="419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5F9EDB"/>
                </a:solidFill>
                <a:latin typeface="Microsoft YaHei UI" panose="020B0503020204020204" pitchFamily="34" charset="-122"/>
              </a:rPr>
              <a:t>验证：</a:t>
            </a:r>
            <a:r>
              <a:rPr lang="zh-CN" altLang="en-US" sz="1100">
                <a:solidFill>
                  <a:srgbClr val="D6D1C9"/>
                </a:solidFill>
                <a:latin typeface="Microsoft YaHei UI" panose="020B0503020204020204" pitchFamily="34" charset="-122"/>
              </a:rPr>
              <a:t>用内部大赛和老玩家复测确认搜打撤闭环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D118A0B-251D-3E53-2EA8-ADD7620E0FA2}"/>
              </a:ext>
            </a:extLst>
          </p:cNvPr>
          <p:cNvSpPr txBox="1"/>
          <p:nvPr/>
        </p:nvSpPr>
        <p:spPr>
          <a:xfrm>
            <a:off x="533400" y="5334000"/>
            <a:ext cx="228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D04C46"/>
                </a:solidFill>
                <a:latin typeface="Microsoft YaHei UI" panose="020B0503020204020204" pitchFamily="34" charset="-122"/>
              </a:rPr>
              <a:t>修改优先级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87AE607D-0FB7-9980-BA18-6A5C33CE0D65}"/>
              </a:ext>
            </a:extLst>
          </p:cNvPr>
          <p:cNvSpPr/>
          <p:nvPr/>
        </p:nvSpPr>
        <p:spPr>
          <a:xfrm>
            <a:off x="533400" y="5626100"/>
            <a:ext cx="3632200" cy="711200"/>
          </a:xfrm>
          <a:prstGeom prst="roundRect">
            <a:avLst/>
          </a:prstGeom>
          <a:solidFill>
            <a:srgbClr val="2B1A1A"/>
          </a:solidFill>
          <a:ln w="12700" cap="flat" cmpd="sng" algn="ctr">
            <a:solidFill>
              <a:srgbClr val="803B37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01600" rtlCol="0" anchor="ctr"/>
          <a:lstStyle/>
          <a:p>
            <a:pPr algn="ctr"/>
            <a:r>
              <a:rPr lang="en-US" altLang="zh-CN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P0  </a:t>
            </a:r>
            <a:r>
              <a:rPr lang="zh-CN" altLang="en-US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一起修</a:t>
            </a:r>
          </a:p>
          <a:p>
            <a:pPr algn="ctr"/>
            <a:r>
              <a:rPr lang="zh-CN" altLang="en-US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镜头 </a:t>
            </a:r>
            <a:r>
              <a:rPr lang="en-US" altLang="zh-CN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+ </a:t>
            </a:r>
            <a:r>
              <a:rPr lang="zh-CN" altLang="en-US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锁敌 </a:t>
            </a:r>
            <a:r>
              <a:rPr lang="en-US" altLang="zh-CN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+ </a:t>
            </a:r>
            <a:r>
              <a:rPr lang="zh-CN" altLang="en-US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操作按钮 </a:t>
            </a:r>
            <a:r>
              <a:rPr lang="en-US" altLang="zh-CN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+ </a:t>
            </a:r>
            <a:r>
              <a:rPr lang="zh-CN" altLang="en-US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战斗信息可读性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26968793-1620-B4C6-8928-CE8D3629105F}"/>
              </a:ext>
            </a:extLst>
          </p:cNvPr>
          <p:cNvSpPr/>
          <p:nvPr/>
        </p:nvSpPr>
        <p:spPr>
          <a:xfrm>
            <a:off x="4368800" y="5626100"/>
            <a:ext cx="3632200" cy="711200"/>
          </a:xfrm>
          <a:prstGeom prst="roundRect">
            <a:avLst/>
          </a:prstGeom>
          <a:solidFill>
            <a:srgbClr val="2A2319"/>
          </a:solidFill>
          <a:ln w="12700" cap="flat" cmpd="sng" algn="ctr">
            <a:solidFill>
              <a:srgbClr val="926B37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01600" rtlCol="0" anchor="ctr"/>
          <a:lstStyle/>
          <a:p>
            <a:pPr algn="ctr"/>
            <a:r>
              <a:rPr lang="en-US" altLang="zh-CN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P1  </a:t>
            </a:r>
            <a:r>
              <a:rPr lang="zh-CN" altLang="en-US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分层打磨</a:t>
            </a:r>
          </a:p>
          <a:p>
            <a:pPr algn="ctr"/>
            <a:r>
              <a:rPr lang="zh-CN" altLang="en-US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职业差异 </a:t>
            </a:r>
            <a:r>
              <a:rPr lang="en-US" altLang="zh-CN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+ </a:t>
            </a:r>
            <a:r>
              <a:rPr lang="zh-CN" altLang="en-US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武器格挡 </a:t>
            </a:r>
            <a:r>
              <a:rPr lang="en-US" altLang="zh-CN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+ </a:t>
            </a:r>
            <a:r>
              <a:rPr lang="zh-CN" altLang="en-US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远程瞄准 </a:t>
            </a:r>
            <a:r>
              <a:rPr lang="en-US" altLang="zh-CN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+ PvE </a:t>
            </a:r>
            <a:r>
              <a:rPr lang="zh-CN" altLang="en-US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引导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CFD37C0-B52E-4ECC-7AB9-72ACE66017EC}"/>
              </a:ext>
            </a:extLst>
          </p:cNvPr>
          <p:cNvSpPr/>
          <p:nvPr/>
        </p:nvSpPr>
        <p:spPr>
          <a:xfrm>
            <a:off x="8204200" y="5626100"/>
            <a:ext cx="3454400" cy="711200"/>
          </a:xfrm>
          <a:prstGeom prst="roundRect">
            <a:avLst/>
          </a:prstGeom>
          <a:solidFill>
            <a:srgbClr val="1B262E"/>
          </a:solidFill>
          <a:ln w="12700" cap="flat" cmpd="sng" algn="ctr">
            <a:solidFill>
              <a:srgbClr val="4177A5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01600" rtlCol="0" anchor="ctr"/>
          <a:lstStyle/>
          <a:p>
            <a:pPr algn="ctr"/>
            <a:r>
              <a:rPr lang="zh-CN" altLang="en-US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验证路径</a:t>
            </a:r>
          </a:p>
          <a:p>
            <a:pPr algn="ctr"/>
            <a:r>
              <a:rPr lang="en-US" altLang="zh-CN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FGD </a:t>
            </a:r>
            <a:r>
              <a:rPr lang="zh-CN" altLang="en-US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调整后内部大赛 </a:t>
            </a:r>
            <a:r>
              <a:rPr lang="en-US" altLang="zh-CN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+ </a:t>
            </a:r>
            <a:r>
              <a:rPr lang="zh-CN" altLang="en-US" sz="1100" b="1">
                <a:solidFill>
                  <a:srgbClr val="F2EBDE"/>
                </a:solidFill>
                <a:latin typeface="Microsoft YaHei UI" panose="020B0503020204020204" pitchFamily="34" charset="-122"/>
              </a:rPr>
              <a:t>老玩家后续测试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F2B6E2D-979B-1659-32DF-9906313C3A4E}"/>
              </a:ext>
            </a:extLst>
          </p:cNvPr>
          <p:cNvSpPr txBox="1"/>
          <p:nvPr/>
        </p:nvSpPr>
        <p:spPr>
          <a:xfrm>
            <a:off x="533400" y="6477000"/>
            <a:ext cx="889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A69E91"/>
                </a:solidFill>
                <a:latin typeface="Microsoft YaHei UI" panose="020B0503020204020204" pitchFamily="34" charset="-122"/>
              </a:rPr>
              <a:t>Source: 2026 May GnG FGD, MX / VN / ID integrated report</a:t>
            </a:r>
            <a:endParaRPr lang="zh-CN" altLang="en-US" sz="800">
              <a:solidFill>
                <a:srgbClr val="A69E91"/>
              </a:solidFill>
              <a:latin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3649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</Words>
  <Application>Microsoft Office PowerPoint</Application>
  <PresentationFormat>自定义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 UI</vt:lpstr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chenchen</dc:creator>
  <cp:lastModifiedBy>Zhang chenchen</cp:lastModifiedBy>
  <cp:revision>1</cp:revision>
  <dcterms:created xsi:type="dcterms:W3CDTF">2026-05-12T13:26:20Z</dcterms:created>
  <dcterms:modified xsi:type="dcterms:W3CDTF">2026-05-12T13:26:21Z</dcterms:modified>
</cp:coreProperties>
</file>